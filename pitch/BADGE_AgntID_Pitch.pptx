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Six weeks ago, Instinct launched. A personal AI assistant. VCs and founders hyped it all week.
Then people read the fine print. [point at the photo] TechCrunch: "Instinct's powerful AI assistant is raising privacy and security concerns."
The assistant is always on. It sees your screen, your emails, your messages. You hand it passwords and payment details so it can act for you. The terms give them a perpetual, irrevocable license to all of it.
And my favourite: Peter Yang asked it to delete his Gmail data. The agent said, honestly: "The wipe I can't do. Those 36 Gmail records are still there."
The agent wasn't evil. It just had the keys to everything, and nobody was checking what it did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Why does this keep happening? Because today an agent gets one session with every key you own.
One: over-access. It gets your whole account, not just what the task needs.
Two: no boundaries between agents. Your marketing bot can read payroll, and nothing stops it.
Three: prompt injection. One poisoned web page or doc, and it ships your data out.
Four: oversharing. Every agent hears every meeting, including the parts nobody should hear.
Our identity systems check the person. Nobody checks the agent, at the moment it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So here's what I built today: BADGE. An AI company where every AI employee gets a badge.
[left to right] You chat with the firm, or just talk, live. The employees are Mira the CMO, Arun the analyst, and Jules the CTO, and each one has its own badge.
Every single tool call goes through the AgntID runtime: guardrails, intent, policy, credentials, then execution. The badge is an AgntID delegation allowlist, so AgntID, not my code, decides. Every decision lands in AgntID's audit log.
The tools are real: Supabase, Notion, and a meeting server I wrote.
No code change to the agent. Just policy. Let me show you.
[SWITCH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~2:30]  (this slide is the backup if the live demo breaks)
1. [Firm, Enforce ON] Type: "@mira Draft the Q3 launch post with September revenue by channel and publish it to the Launch Desk in Notion."
   - "Mira is the CMO. She tries the payments database. Red: BLOCKED. AgntID says the database isn't on her badge."
   - "So she does what a real employee does: asks the analyst. That handoff is an AgntID delegation."
   - "Arun is cleared. Green: real numbers from Supabase. Five checkpoints: guard, intent, policy, creds, execute."
   - "Mira publishes it to Notion." [click Published to Notion, show the page, come back]
2. [Live meeting widget, press mic] Say:
   - "September closed at 70 lakh and runway is 14 months." -&gt; only Arun ticks green.
   - "Launch is locked for October 20th." -&gt; only Mira.
   - "We're letting a contractor go next week." -&gt; nobody. All red.
   - "Every agent only hears the part of the meeting its badge allows, decided by AgntID, live. And they file it into their own Notion pages." [open Arun's notes page]
3. [Flip toggle to BYPASS, rerun step 1's prompt]
   - "This is everyone else's agent today. No badge. The CMO goes straight into your production database."
   [flip back to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Everything you saw was real. Every red card was AgntID refusing the call, not my code. Badges are AgntID delegation allowlists. Handoffs are AgntID delegations, and a delegate can't get more access than its parent. The meeting routing is one AgntID check per agent, per sentence. And every decision is in AgntID's audit log.
Next: computer use, where each agent gets its own browser and AgntID decides which sites it can open. Parameter rules: sum of revenue yes, emails and card numbers no. And the right to forget: when you say delete, it's enforced at the tool.
Instinct gave its agent the keys to everything. Give your agents badges, not keys.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0" y="0"/>
            <a:ext cx="12191695" cy="6858000"/>
          </a:xfrm>
          <a:prstGeom prst="rect">
            <a:avLst/>
          </a:prstGeom>
          <a:noFill/>
          <a:ln/>
        </p:spPr>
        <p:txBody>
          <a:bodyPr wrap="square" lIns="0" tIns="0" rIns="0" bIns="0" rtlCol="0" anchor="t"/>
          <a:lstStyle/>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p:txBody>
      </p:sp>
      <p:sp>
        <p:nvSpPr>
          <p:cNvPr id="3" name="Text 1"/>
          <p:cNvSpPr/>
          <p:nvPr/>
        </p:nvSpPr>
        <p:spPr>
          <a:xfrm>
            <a:off x="502920" y="164592"/>
            <a:ext cx="2743200" cy="411480"/>
          </a:xfrm>
          <a:prstGeom prst="rect">
            <a:avLst/>
          </a:prstGeom>
          <a:noFill/>
          <a:ln/>
        </p:spPr>
        <p:txBody>
          <a:bodyPr wrap="square" lIns="0" tIns="0" rIns="0" bIns="0" rtlCol="0" anchor="ctr"/>
          <a:lstStyle/>
          <a:p>
            <a:pPr indent="0" marL="0">
              <a:buNone/>
            </a:pPr>
            <a:r>
              <a:rPr lang="en-US" sz="2200" b="1" dirty="0">
                <a:solidFill>
                  <a:srgbClr val="31413D"/>
                </a:solidFill>
                <a:latin typeface="Caveat" pitchFamily="34" charset="0"/>
                <a:ea typeface="Caveat" pitchFamily="34" charset="-122"/>
                <a:cs typeface="Caveat" pitchFamily="34" charset="-120"/>
              </a:rPr>
              <a:t>Mohammed Razak</a:t>
            </a:r>
            <a:endParaRPr lang="en-US" sz="2200" dirty="0"/>
          </a:p>
        </p:txBody>
      </p:sp>
      <p:sp>
        <p:nvSpPr>
          <p:cNvPr id="4" name="Text 2"/>
          <p:cNvSpPr/>
          <p:nvPr/>
        </p:nvSpPr>
        <p:spPr>
          <a:xfrm>
            <a:off x="4754880" y="164592"/>
            <a:ext cx="6933895" cy="411480"/>
          </a:xfrm>
          <a:prstGeom prst="rect">
            <a:avLst/>
          </a:prstGeom>
          <a:noFill/>
          <a:ln/>
        </p:spPr>
        <p:txBody>
          <a:bodyPr wrap="square" lIns="0" tIns="0" rIns="0" bIns="0" rtlCol="0" anchor="ctr"/>
          <a:lstStyle/>
          <a:p>
            <a:pPr algn="r" indent="0" marL="0">
              <a:buNone/>
            </a:pPr>
            <a:r>
              <a:rPr lang="en-US" sz="900" b="1" dirty="0">
                <a:solidFill>
                  <a:srgbClr val="2F77D1"/>
                </a:solidFill>
                <a:latin typeface="DM Mono" pitchFamily="34" charset="0"/>
                <a:ea typeface="DM Mono" pitchFamily="34" charset="-122"/>
                <a:cs typeface="DM Mono" pitchFamily="34" charset="-120"/>
              </a:rPr>
              <a:t>01 the breach     </a:t>
            </a:r>
            <a:pPr algn="r" indent="0" marL="0">
              <a:buNone/>
            </a:pPr>
            <a:r>
              <a:rPr lang="en-US" sz="900" dirty="0">
                <a:solidFill>
                  <a:srgbClr val="6F7B78"/>
                </a:solidFill>
                <a:latin typeface="DM Mono" pitchFamily="34" charset="0"/>
                <a:ea typeface="DM Mono" pitchFamily="34" charset="-122"/>
                <a:cs typeface="DM Mono" pitchFamily="34" charset="-120"/>
              </a:rPr>
              <a:t>02 why     </a:t>
            </a:r>
            <a:pPr algn="r" indent="0" marL="0">
              <a:buNone/>
            </a:pPr>
            <a:r>
              <a:rPr lang="en-US" sz="900" dirty="0">
                <a:solidFill>
                  <a:srgbClr val="6F7B78"/>
                </a:solidFill>
                <a:latin typeface="DM Mono" pitchFamily="34" charset="0"/>
                <a:ea typeface="DM Mono" pitchFamily="34" charset="-122"/>
                <a:cs typeface="DM Mono" pitchFamily="34" charset="-120"/>
              </a:rPr>
              <a:t>03 badge     </a:t>
            </a:r>
            <a:pPr algn="r" indent="0" marL="0">
              <a:buNone/>
            </a:pPr>
            <a:r>
              <a:rPr lang="en-US" sz="900" dirty="0">
                <a:solidFill>
                  <a:srgbClr val="6F7B78"/>
                </a:solidFill>
                <a:latin typeface="DM Mono" pitchFamily="34" charset="0"/>
                <a:ea typeface="DM Mono" pitchFamily="34" charset="-122"/>
                <a:cs typeface="DM Mono" pitchFamily="34" charset="-120"/>
              </a:rPr>
              <a:t>04 demo     </a:t>
            </a:r>
            <a:pPr algn="r" indent="0" marL="0">
              <a:buNone/>
            </a:pPr>
            <a:r>
              <a:rPr lang="en-US" sz="900" dirty="0">
                <a:solidFill>
                  <a:srgbClr val="6F7B78"/>
                </a:solidFill>
                <a:latin typeface="DM Mono" pitchFamily="34" charset="0"/>
                <a:ea typeface="DM Mono" pitchFamily="34" charset="-122"/>
                <a:cs typeface="DM Mono" pitchFamily="34" charset="-120"/>
              </a:rPr>
              <a:t>05 next</a:t>
            </a:r>
            <a:endParaRPr lang="en-US" sz="900" dirty="0"/>
          </a:p>
        </p:txBody>
      </p:sp>
      <p:sp>
        <p:nvSpPr>
          <p:cNvPr id="5" name="Shape 3"/>
          <p:cNvSpPr/>
          <p:nvPr/>
        </p:nvSpPr>
        <p:spPr>
          <a:xfrm>
            <a:off x="502920" y="621792"/>
            <a:ext cx="11185855" cy="0"/>
          </a:xfrm>
          <a:prstGeom prst="line">
            <a:avLst/>
          </a:prstGeom>
          <a:noFill/>
          <a:ln w="12700">
            <a:solidFill>
              <a:srgbClr val="DFE4DC"/>
            </a:solidFill>
            <a:prstDash val="solid"/>
          </a:ln>
        </p:spPr>
      </p:sp>
      <p:sp>
        <p:nvSpPr>
          <p:cNvPr id="6" name="Shape 4"/>
          <p:cNvSpPr/>
          <p:nvPr/>
        </p:nvSpPr>
        <p:spPr>
          <a:xfrm rot="-90000">
            <a:off x="642682" y="1058276"/>
            <a:ext cx="5394960" cy="4489704"/>
          </a:xfrm>
          <a:prstGeom prst="rect">
            <a:avLst/>
          </a:prstGeom>
          <a:solidFill>
            <a:srgbClr val="7C5F16">
              <a:alpha val="14000"/>
            </a:srgbClr>
          </a:solidFill>
          <a:ln w="12700">
            <a:solidFill>
              <a:srgbClr val="F7F8F3">
                <a:alpha val="0"/>
              </a:srgbClr>
            </a:solidFill>
            <a:prstDash val="solid"/>
          </a:ln>
        </p:spPr>
      </p:sp>
      <p:pic>
        <p:nvPicPr>
          <p:cNvPr id="7" name="Image 0" descr="img/instinct.png">    </p:cNvPr>
          <p:cNvPicPr>
            <a:picLocks noChangeAspect="1"/>
          </p:cNvPicPr>
          <p:nvPr/>
        </p:nvPicPr>
        <p:blipFill>
          <a:blip r:embed="rId1"/>
          <a:srcRect l="0" r="0" t="0" b="0"/>
          <a:stretch/>
        </p:blipFill>
        <p:spPr>
          <a:xfrm rot="-90000">
            <a:off x="544331" y="960176"/>
            <a:ext cx="5394960" cy="4160520"/>
          </a:xfrm>
          <a:prstGeom prst="rect">
            <a:avLst/>
          </a:prstGeom>
        </p:spPr>
      </p:pic>
      <p:sp>
        <p:nvSpPr>
          <p:cNvPr id="8" name="Text 5"/>
          <p:cNvSpPr/>
          <p:nvPr/>
        </p:nvSpPr>
        <p:spPr>
          <a:xfrm rot="-90000">
            <a:off x="603095" y="5119927"/>
            <a:ext cx="5394960" cy="329184"/>
          </a:xfrm>
          <a:prstGeom prst="rect">
            <a:avLst/>
          </a:prstGeom>
          <a:solidFill>
            <a:srgbClr val="F7DFA0"/>
          </a:solidFill>
          <a:ln w="9525">
            <a:solidFill>
              <a:srgbClr val="342A0C">
                <a:alpha val="40000"/>
              </a:srgbClr>
            </a:solidFill>
          </a:ln>
        </p:spPr>
        <p:txBody>
          <a:bodyPr wrap="square" lIns="127000" tIns="25400" rIns="25400" bIns="127000" rtlCol="0" anchor="ctr"/>
          <a:lstStyle/>
          <a:p>
            <a:pPr indent="0" marL="0">
              <a:buNone/>
            </a:pPr>
            <a:r>
              <a:rPr lang="en-US" sz="900" dirty="0">
                <a:solidFill>
                  <a:srgbClr val="5D4B15"/>
                </a:solidFill>
                <a:latin typeface="DM Mono" pitchFamily="34" charset="0"/>
                <a:ea typeface="DM Mono" pitchFamily="34" charset="-122"/>
                <a:cs typeface="DM Mono" pitchFamily="34" charset="-120"/>
              </a:rPr>
              <a:t>TECHCRUNCH · AUG 24, 2026</a:t>
            </a:r>
            <a:endParaRPr lang="en-US" sz="900" dirty="0"/>
          </a:p>
        </p:txBody>
      </p:sp>
      <p:sp>
        <p:nvSpPr>
          <p:cNvPr id="9" name="Shape 6"/>
          <p:cNvSpPr/>
          <p:nvPr/>
        </p:nvSpPr>
        <p:spPr>
          <a:xfrm rot="180000">
            <a:off x="4292291" y="3168472"/>
            <a:ext cx="2194560" cy="3346704"/>
          </a:xfrm>
          <a:prstGeom prst="rect">
            <a:avLst/>
          </a:prstGeom>
          <a:solidFill>
            <a:srgbClr val="7C5F16">
              <a:alpha val="14000"/>
            </a:srgbClr>
          </a:solidFill>
          <a:ln w="12700">
            <a:solidFill>
              <a:srgbClr val="F7F8F3">
                <a:alpha val="0"/>
              </a:srgbClr>
            </a:solidFill>
            <a:prstDash val="solid"/>
          </a:ln>
        </p:spPr>
      </p:sp>
      <p:pic>
        <p:nvPicPr>
          <p:cNvPr id="10" name="Image 1" descr="img/tweet_3.png">    </p:cNvPr>
          <p:cNvPicPr>
            <a:picLocks noChangeAspect="1"/>
          </p:cNvPicPr>
          <p:nvPr/>
        </p:nvPicPr>
        <p:blipFill>
          <a:blip r:embed="rId2"/>
          <a:srcRect l="0" r="0" t="0" b="0"/>
          <a:stretch/>
        </p:blipFill>
        <p:spPr>
          <a:xfrm rot="180000">
            <a:off x="4214854" y="3063466"/>
            <a:ext cx="2194560" cy="3017520"/>
          </a:xfrm>
          <a:prstGeom prst="rect">
            <a:avLst/>
          </a:prstGeom>
        </p:spPr>
      </p:pic>
      <p:sp>
        <p:nvSpPr>
          <p:cNvPr id="11" name="Text 7"/>
          <p:cNvSpPr/>
          <p:nvPr/>
        </p:nvSpPr>
        <p:spPr>
          <a:xfrm rot="180000">
            <a:off x="4127278" y="6078692"/>
            <a:ext cx="2194560" cy="329184"/>
          </a:xfrm>
          <a:prstGeom prst="rect">
            <a:avLst/>
          </a:prstGeom>
          <a:solidFill>
            <a:srgbClr val="F7DFA0"/>
          </a:solidFill>
          <a:ln w="9525">
            <a:solidFill>
              <a:srgbClr val="342A0C">
                <a:alpha val="40000"/>
              </a:srgbClr>
            </a:solidFill>
          </a:ln>
        </p:spPr>
        <p:txBody>
          <a:bodyPr wrap="square" lIns="127000" tIns="25400" rIns="25400" bIns="127000" rtlCol="0" anchor="ctr"/>
          <a:lstStyle/>
          <a:p>
            <a:pPr indent="0" marL="0">
              <a:buNone/>
            </a:pPr>
            <a:r>
              <a:rPr lang="en-US" sz="900" dirty="0">
                <a:solidFill>
                  <a:srgbClr val="5D4B15"/>
                </a:solidFill>
                <a:latin typeface="DM Mono" pitchFamily="34" charset="0"/>
                <a:ea typeface="DM Mono" pitchFamily="34" charset="-122"/>
                <a:cs typeface="DM Mono" pitchFamily="34" charset="-120"/>
              </a:rPr>
              <a:t>"36 GMAIL RECORDS ARE STILL THERE"</a:t>
            </a:r>
            <a:endParaRPr lang="en-US" sz="900" dirty="0"/>
          </a:p>
        </p:txBody>
      </p:sp>
      <p:sp>
        <p:nvSpPr>
          <p:cNvPr id="12" name="Shape 8"/>
          <p:cNvSpPr/>
          <p:nvPr/>
        </p:nvSpPr>
        <p:spPr>
          <a:xfrm>
            <a:off x="7214616" y="1097280"/>
            <a:ext cx="4617720" cy="5349240"/>
          </a:xfrm>
          <a:prstGeom prst="rect">
            <a:avLst/>
          </a:prstGeom>
          <a:solidFill>
            <a:srgbClr val="7C5F16">
              <a:alpha val="14000"/>
            </a:srgbClr>
          </a:solidFill>
          <a:ln w="12700">
            <a:solidFill>
              <a:srgbClr val="F7F8F3">
                <a:alpha val="0"/>
              </a:srgbClr>
            </a:solidFill>
            <a:prstDash val="solid"/>
          </a:ln>
        </p:spPr>
      </p:sp>
      <p:sp>
        <p:nvSpPr>
          <p:cNvPr id="13" name="Shape 9"/>
          <p:cNvSpPr/>
          <p:nvPr/>
        </p:nvSpPr>
        <p:spPr>
          <a:xfrm>
            <a:off x="7086600" y="960120"/>
            <a:ext cx="4617720" cy="5349240"/>
          </a:xfrm>
          <a:prstGeom prst="rect">
            <a:avLst/>
          </a:prstGeom>
          <a:solidFill>
            <a:srgbClr val="F3CF60"/>
          </a:solidFill>
          <a:ln w="12700">
            <a:solidFill>
              <a:srgbClr val="BDA34F"/>
            </a:solidFill>
            <a:prstDash val="solid"/>
          </a:ln>
        </p:spPr>
      </p:sp>
      <p:sp>
        <p:nvSpPr>
          <p:cNvPr id="14" name="Shape 10"/>
          <p:cNvSpPr/>
          <p:nvPr/>
        </p:nvSpPr>
        <p:spPr>
          <a:xfrm>
            <a:off x="7086600" y="1316736"/>
            <a:ext cx="4617720" cy="0"/>
          </a:xfrm>
          <a:prstGeom prst="line">
            <a:avLst/>
          </a:prstGeom>
          <a:noFill/>
          <a:ln w="9525">
            <a:solidFill>
              <a:srgbClr val="E2BE55"/>
            </a:solidFill>
            <a:prstDash val="solid"/>
          </a:ln>
        </p:spPr>
      </p:sp>
      <p:sp>
        <p:nvSpPr>
          <p:cNvPr id="15" name="Shape 11"/>
          <p:cNvSpPr/>
          <p:nvPr/>
        </p:nvSpPr>
        <p:spPr>
          <a:xfrm>
            <a:off x="7086600" y="1673352"/>
            <a:ext cx="4617720" cy="0"/>
          </a:xfrm>
          <a:prstGeom prst="line">
            <a:avLst/>
          </a:prstGeom>
          <a:noFill/>
          <a:ln w="9525">
            <a:solidFill>
              <a:srgbClr val="E2BE55"/>
            </a:solidFill>
            <a:prstDash val="solid"/>
          </a:ln>
        </p:spPr>
      </p:sp>
      <p:sp>
        <p:nvSpPr>
          <p:cNvPr id="16" name="Shape 12"/>
          <p:cNvSpPr/>
          <p:nvPr/>
        </p:nvSpPr>
        <p:spPr>
          <a:xfrm>
            <a:off x="7086600" y="2029968"/>
            <a:ext cx="4617720" cy="0"/>
          </a:xfrm>
          <a:prstGeom prst="line">
            <a:avLst/>
          </a:prstGeom>
          <a:noFill/>
          <a:ln w="9525">
            <a:solidFill>
              <a:srgbClr val="E2BE55"/>
            </a:solidFill>
            <a:prstDash val="solid"/>
          </a:ln>
        </p:spPr>
      </p:sp>
      <p:sp>
        <p:nvSpPr>
          <p:cNvPr id="17" name="Shape 13"/>
          <p:cNvSpPr/>
          <p:nvPr/>
        </p:nvSpPr>
        <p:spPr>
          <a:xfrm>
            <a:off x="7086600" y="2386584"/>
            <a:ext cx="4617720" cy="0"/>
          </a:xfrm>
          <a:prstGeom prst="line">
            <a:avLst/>
          </a:prstGeom>
          <a:noFill/>
          <a:ln w="9525">
            <a:solidFill>
              <a:srgbClr val="E2BE55"/>
            </a:solidFill>
            <a:prstDash val="solid"/>
          </a:ln>
        </p:spPr>
      </p:sp>
      <p:sp>
        <p:nvSpPr>
          <p:cNvPr id="18" name="Shape 14"/>
          <p:cNvSpPr/>
          <p:nvPr/>
        </p:nvSpPr>
        <p:spPr>
          <a:xfrm>
            <a:off x="7086600" y="2743200"/>
            <a:ext cx="4617720" cy="0"/>
          </a:xfrm>
          <a:prstGeom prst="line">
            <a:avLst/>
          </a:prstGeom>
          <a:noFill/>
          <a:ln w="9525">
            <a:solidFill>
              <a:srgbClr val="E2BE55"/>
            </a:solidFill>
            <a:prstDash val="solid"/>
          </a:ln>
        </p:spPr>
      </p:sp>
      <p:sp>
        <p:nvSpPr>
          <p:cNvPr id="19" name="Shape 15"/>
          <p:cNvSpPr/>
          <p:nvPr/>
        </p:nvSpPr>
        <p:spPr>
          <a:xfrm>
            <a:off x="7086600" y="3099816"/>
            <a:ext cx="4617720" cy="0"/>
          </a:xfrm>
          <a:prstGeom prst="line">
            <a:avLst/>
          </a:prstGeom>
          <a:noFill/>
          <a:ln w="9525">
            <a:solidFill>
              <a:srgbClr val="E2BE55"/>
            </a:solidFill>
            <a:prstDash val="solid"/>
          </a:ln>
        </p:spPr>
      </p:sp>
      <p:sp>
        <p:nvSpPr>
          <p:cNvPr id="20" name="Shape 16"/>
          <p:cNvSpPr/>
          <p:nvPr/>
        </p:nvSpPr>
        <p:spPr>
          <a:xfrm>
            <a:off x="7086600" y="3456432"/>
            <a:ext cx="4617720" cy="0"/>
          </a:xfrm>
          <a:prstGeom prst="line">
            <a:avLst/>
          </a:prstGeom>
          <a:noFill/>
          <a:ln w="9525">
            <a:solidFill>
              <a:srgbClr val="E2BE55"/>
            </a:solidFill>
            <a:prstDash val="solid"/>
          </a:ln>
        </p:spPr>
      </p:sp>
      <p:sp>
        <p:nvSpPr>
          <p:cNvPr id="21" name="Shape 17"/>
          <p:cNvSpPr/>
          <p:nvPr/>
        </p:nvSpPr>
        <p:spPr>
          <a:xfrm>
            <a:off x="7086600" y="3813048"/>
            <a:ext cx="4617720" cy="0"/>
          </a:xfrm>
          <a:prstGeom prst="line">
            <a:avLst/>
          </a:prstGeom>
          <a:noFill/>
          <a:ln w="9525">
            <a:solidFill>
              <a:srgbClr val="E2BE55"/>
            </a:solidFill>
            <a:prstDash val="solid"/>
          </a:ln>
        </p:spPr>
      </p:sp>
      <p:sp>
        <p:nvSpPr>
          <p:cNvPr id="22" name="Shape 18"/>
          <p:cNvSpPr/>
          <p:nvPr/>
        </p:nvSpPr>
        <p:spPr>
          <a:xfrm>
            <a:off x="7086600" y="4169664"/>
            <a:ext cx="4617720" cy="0"/>
          </a:xfrm>
          <a:prstGeom prst="line">
            <a:avLst/>
          </a:prstGeom>
          <a:noFill/>
          <a:ln w="9525">
            <a:solidFill>
              <a:srgbClr val="E2BE55"/>
            </a:solidFill>
            <a:prstDash val="solid"/>
          </a:ln>
        </p:spPr>
      </p:sp>
      <p:sp>
        <p:nvSpPr>
          <p:cNvPr id="23" name="Shape 19"/>
          <p:cNvSpPr/>
          <p:nvPr/>
        </p:nvSpPr>
        <p:spPr>
          <a:xfrm>
            <a:off x="7086600" y="4526280"/>
            <a:ext cx="4617720" cy="0"/>
          </a:xfrm>
          <a:prstGeom prst="line">
            <a:avLst/>
          </a:prstGeom>
          <a:noFill/>
          <a:ln w="9525">
            <a:solidFill>
              <a:srgbClr val="E2BE55"/>
            </a:solidFill>
            <a:prstDash val="solid"/>
          </a:ln>
        </p:spPr>
      </p:sp>
      <p:sp>
        <p:nvSpPr>
          <p:cNvPr id="24" name="Shape 20"/>
          <p:cNvSpPr/>
          <p:nvPr/>
        </p:nvSpPr>
        <p:spPr>
          <a:xfrm>
            <a:off x="7086600" y="4882896"/>
            <a:ext cx="4617720" cy="0"/>
          </a:xfrm>
          <a:prstGeom prst="line">
            <a:avLst/>
          </a:prstGeom>
          <a:noFill/>
          <a:ln w="9525">
            <a:solidFill>
              <a:srgbClr val="E2BE55"/>
            </a:solidFill>
            <a:prstDash val="solid"/>
          </a:ln>
        </p:spPr>
      </p:sp>
      <p:sp>
        <p:nvSpPr>
          <p:cNvPr id="25" name="Shape 21"/>
          <p:cNvSpPr/>
          <p:nvPr/>
        </p:nvSpPr>
        <p:spPr>
          <a:xfrm>
            <a:off x="7086600" y="5239512"/>
            <a:ext cx="4617720" cy="0"/>
          </a:xfrm>
          <a:prstGeom prst="line">
            <a:avLst/>
          </a:prstGeom>
          <a:noFill/>
          <a:ln w="9525">
            <a:solidFill>
              <a:srgbClr val="E2BE55"/>
            </a:solidFill>
            <a:prstDash val="solid"/>
          </a:ln>
        </p:spPr>
      </p:sp>
      <p:sp>
        <p:nvSpPr>
          <p:cNvPr id="26" name="Shape 22"/>
          <p:cNvSpPr/>
          <p:nvPr/>
        </p:nvSpPr>
        <p:spPr>
          <a:xfrm>
            <a:off x="7086600" y="5596128"/>
            <a:ext cx="4617720" cy="0"/>
          </a:xfrm>
          <a:prstGeom prst="line">
            <a:avLst/>
          </a:prstGeom>
          <a:noFill/>
          <a:ln w="9525">
            <a:solidFill>
              <a:srgbClr val="E2BE55"/>
            </a:solidFill>
            <a:prstDash val="solid"/>
          </a:ln>
        </p:spPr>
      </p:sp>
      <p:sp>
        <p:nvSpPr>
          <p:cNvPr id="27" name="Shape 23"/>
          <p:cNvSpPr/>
          <p:nvPr/>
        </p:nvSpPr>
        <p:spPr>
          <a:xfrm>
            <a:off x="7086600" y="5952744"/>
            <a:ext cx="4617720" cy="0"/>
          </a:xfrm>
          <a:prstGeom prst="line">
            <a:avLst/>
          </a:prstGeom>
          <a:noFill/>
          <a:ln w="9525">
            <a:solidFill>
              <a:srgbClr val="E2BE55"/>
            </a:solidFill>
            <a:prstDash val="solid"/>
          </a:ln>
        </p:spPr>
      </p:sp>
      <p:sp>
        <p:nvSpPr>
          <p:cNvPr id="28" name="Shape 24"/>
          <p:cNvSpPr/>
          <p:nvPr/>
        </p:nvSpPr>
        <p:spPr>
          <a:xfrm rot="240000">
            <a:off x="10927080" y="868680"/>
            <a:ext cx="566928" cy="182880"/>
          </a:xfrm>
          <a:prstGeom prst="rect">
            <a:avLst/>
          </a:prstGeom>
          <a:solidFill>
            <a:srgbClr val="FFFFFF">
              <a:alpha val="45000"/>
            </a:srgbClr>
          </a:solidFill>
          <a:ln w="6350">
            <a:solidFill>
              <a:srgbClr val="3A2E0A">
                <a:alpha val="30000"/>
              </a:srgbClr>
            </a:solidFill>
            <a:prstDash val="solid"/>
          </a:ln>
        </p:spPr>
      </p:sp>
      <p:sp>
        <p:nvSpPr>
          <p:cNvPr id="29" name="Text 25"/>
          <p:cNvSpPr/>
          <p:nvPr/>
        </p:nvSpPr>
        <p:spPr>
          <a:xfrm>
            <a:off x="9189720" y="960120"/>
            <a:ext cx="1508760" cy="237744"/>
          </a:xfrm>
          <a:prstGeom prst="rect">
            <a:avLst/>
          </a:prstGeom>
          <a:solidFill>
            <a:srgbClr val="E7B947"/>
          </a:solidFill>
          <a:ln w="9525">
            <a:solidFill>
              <a:srgbClr val="BDA34F"/>
            </a:solidFill>
          </a:ln>
        </p:spPr>
        <p:txBody>
          <a:bodyPr wrap="square" lIns="0" tIns="0" rIns="0" bIns="0" rtlCol="0" anchor="ctr"/>
          <a:lstStyle/>
          <a:p>
            <a:pPr algn="ctr" indent="0" marL="0">
              <a:buNone/>
            </a:pPr>
            <a:r>
              <a:rPr lang="en-US" sz="750" dirty="0">
                <a:solidFill>
                  <a:srgbClr val="4D4218"/>
                </a:solidFill>
                <a:latin typeface="DM Mono" pitchFamily="34" charset="0"/>
                <a:ea typeface="DM Mono" pitchFamily="34" charset="-122"/>
                <a:cs typeface="DM Mono" pitchFamily="34" charset="-120"/>
              </a:rPr>
              <a:t>FIELD NOTES / OCT 10</a:t>
            </a:r>
            <a:endParaRPr lang="en-US" sz="750" dirty="0"/>
          </a:p>
        </p:txBody>
      </p:sp>
      <p:sp>
        <p:nvSpPr>
          <p:cNvPr id="30" name="Shape 26"/>
          <p:cNvSpPr/>
          <p:nvPr/>
        </p:nvSpPr>
        <p:spPr>
          <a:xfrm>
            <a:off x="7406640" y="1394460"/>
            <a:ext cx="82296" cy="82296"/>
          </a:xfrm>
          <a:prstGeom prst="rect">
            <a:avLst/>
          </a:prstGeom>
          <a:solidFill>
            <a:srgbClr val="2F77D1"/>
          </a:solidFill>
          <a:ln w="12700">
            <a:solidFill>
              <a:srgbClr val="2F77D1"/>
            </a:solidFill>
            <a:prstDash val="solid"/>
          </a:ln>
        </p:spPr>
      </p:sp>
      <p:sp>
        <p:nvSpPr>
          <p:cNvPr id="31" name="Text 27"/>
          <p:cNvSpPr/>
          <p:nvPr/>
        </p:nvSpPr>
        <p:spPr>
          <a:xfrm>
            <a:off x="7589520" y="1325880"/>
            <a:ext cx="4572000" cy="219456"/>
          </a:xfrm>
          <a:prstGeom prst="rect">
            <a:avLst/>
          </a:prstGeom>
          <a:noFill/>
          <a:ln/>
        </p:spPr>
        <p:txBody>
          <a:bodyPr wrap="square" lIns="0" tIns="0" rIns="0" bIns="0" rtlCol="0" anchor="ctr"/>
          <a:lstStyle/>
          <a:p>
            <a:pPr indent="0" marL="0">
              <a:buNone/>
            </a:pPr>
            <a:r>
              <a:rPr lang="en-US" sz="1000" spc="100" kern="0" dirty="0">
                <a:solidFill>
                  <a:srgbClr val="71817D"/>
                </a:solidFill>
                <a:latin typeface="DM Mono" pitchFamily="34" charset="0"/>
                <a:ea typeface="DM Mono" pitchFamily="34" charset="-122"/>
                <a:cs typeface="DM Mono" pitchFamily="34" charset="-120"/>
              </a:rPr>
              <a:t>PERSONAL AI AGENTS, 2026</a:t>
            </a:r>
            <a:endParaRPr lang="en-US" sz="1000" dirty="0"/>
          </a:p>
        </p:txBody>
      </p:sp>
      <p:sp>
        <p:nvSpPr>
          <p:cNvPr id="32" name="Text 28"/>
          <p:cNvSpPr/>
          <p:nvPr/>
        </p:nvSpPr>
        <p:spPr>
          <a:xfrm>
            <a:off x="7406640" y="1645920"/>
            <a:ext cx="4069080" cy="1463040"/>
          </a:xfrm>
          <a:prstGeom prst="rect">
            <a:avLst/>
          </a:prstGeom>
          <a:noFill/>
          <a:ln/>
        </p:spPr>
        <p:txBody>
          <a:bodyPr wrap="square" lIns="0" tIns="0" rIns="0" bIns="0" rtlCol="0" anchor="t"/>
          <a:lstStyle/>
          <a:p>
            <a:pPr indent="0" marL="0">
              <a:lnSpc>
                <a:spcPct val="80000"/>
              </a:lnSpc>
              <a:buNone/>
            </a:pPr>
            <a:r>
              <a:rPr lang="en-US" sz="4000" b="1" dirty="0">
                <a:solidFill>
                  <a:srgbClr val="21221C"/>
                </a:solidFill>
                <a:latin typeface="Caveat" pitchFamily="34" charset="0"/>
                <a:ea typeface="Caveat" pitchFamily="34" charset="-122"/>
                <a:cs typeface="Caveat" pitchFamily="34" charset="-120"/>
              </a:rPr>
              <a:t>Your agent has the keys to everything.</a:t>
            </a:r>
            <a:endParaRPr lang="en-US" sz="4000" dirty="0"/>
          </a:p>
        </p:txBody>
      </p:sp>
      <p:sp>
        <p:nvSpPr>
          <p:cNvPr id="33" name="Text 29"/>
          <p:cNvSpPr/>
          <p:nvPr/>
        </p:nvSpPr>
        <p:spPr>
          <a:xfrm>
            <a:off x="7406640" y="3108960"/>
            <a:ext cx="4069080" cy="822960"/>
          </a:xfrm>
          <a:prstGeom prst="rect">
            <a:avLst/>
          </a:prstGeom>
          <a:noFill/>
          <a:ln/>
        </p:spPr>
        <p:txBody>
          <a:bodyPr wrap="square" lIns="0" tIns="0" rIns="0" bIns="0" rtlCol="0" anchor="t"/>
          <a:lstStyle/>
          <a:p>
            <a:pPr indent="0" marL="0">
              <a:lnSpc>
                <a:spcPct val="85000"/>
              </a:lnSpc>
              <a:buNone/>
            </a:pPr>
            <a:r>
              <a:rPr lang="en-US" sz="2800" b="1" dirty="0">
                <a:solidFill>
                  <a:srgbClr val="D96D3C"/>
                </a:solidFill>
                <a:latin typeface="Caveat" pitchFamily="34" charset="0"/>
                <a:ea typeface="Caveat" pitchFamily="34" charset="-122"/>
                <a:cs typeface="Caveat" pitchFamily="34" charset="-120"/>
              </a:rPr>
              <a:t>Nobody checks what it does with them.</a:t>
            </a:r>
            <a:endParaRPr lang="en-US" sz="2800" dirty="0"/>
          </a:p>
        </p:txBody>
      </p:sp>
      <p:sp>
        <p:nvSpPr>
          <p:cNvPr id="34" name="Shape 30"/>
          <p:cNvSpPr/>
          <p:nvPr/>
        </p:nvSpPr>
        <p:spPr>
          <a:xfrm>
            <a:off x="7434072" y="4187952"/>
            <a:ext cx="64008" cy="64008"/>
          </a:xfrm>
          <a:prstGeom prst="rect">
            <a:avLst/>
          </a:prstGeom>
          <a:solidFill>
            <a:srgbClr val="D96D3C"/>
          </a:solidFill>
          <a:ln w="12700">
            <a:solidFill>
              <a:srgbClr val="D96D3C"/>
            </a:solidFill>
            <a:prstDash val="solid"/>
          </a:ln>
        </p:spPr>
      </p:sp>
      <p:sp>
        <p:nvSpPr>
          <p:cNvPr id="35" name="Text 31"/>
          <p:cNvSpPr/>
          <p:nvPr/>
        </p:nvSpPr>
        <p:spPr>
          <a:xfrm>
            <a:off x="7616952" y="4069080"/>
            <a:ext cx="3794760" cy="310896"/>
          </a:xfrm>
          <a:prstGeom prst="rect">
            <a:avLst/>
          </a:prstGeom>
          <a:noFill/>
          <a:ln/>
        </p:spPr>
        <p:txBody>
          <a:bodyPr wrap="square" lIns="0" tIns="0" rIns="0" bIns="0" rtlCol="0" anchor="ctr"/>
          <a:lstStyle/>
          <a:p>
            <a:pPr indent="0" marL="0">
              <a:buNone/>
            </a:pPr>
            <a:r>
              <a:rPr lang="en-US" sz="1500" b="1" dirty="0">
                <a:solidFill>
                  <a:srgbClr val="504924"/>
                </a:solidFill>
                <a:latin typeface="Manrope" pitchFamily="34" charset="0"/>
                <a:ea typeface="Manrope" pitchFamily="34" charset="-122"/>
                <a:cs typeface="Manrope" pitchFamily="34" charset="-120"/>
              </a:rPr>
              <a:t>Always on: screen, email, messages</a:t>
            </a:r>
            <a:endParaRPr lang="en-US" sz="1500" dirty="0"/>
          </a:p>
        </p:txBody>
      </p:sp>
      <p:sp>
        <p:nvSpPr>
          <p:cNvPr id="36" name="Shape 32"/>
          <p:cNvSpPr/>
          <p:nvPr/>
        </p:nvSpPr>
        <p:spPr>
          <a:xfrm>
            <a:off x="7434072" y="4690872"/>
            <a:ext cx="64008" cy="64008"/>
          </a:xfrm>
          <a:prstGeom prst="rect">
            <a:avLst/>
          </a:prstGeom>
          <a:solidFill>
            <a:srgbClr val="7750CE"/>
          </a:solidFill>
          <a:ln w="12700">
            <a:solidFill>
              <a:srgbClr val="7750CE"/>
            </a:solidFill>
            <a:prstDash val="solid"/>
          </a:ln>
        </p:spPr>
      </p:sp>
      <p:sp>
        <p:nvSpPr>
          <p:cNvPr id="37" name="Text 33"/>
          <p:cNvSpPr/>
          <p:nvPr/>
        </p:nvSpPr>
        <p:spPr>
          <a:xfrm>
            <a:off x="7616952" y="4572000"/>
            <a:ext cx="3794760" cy="310896"/>
          </a:xfrm>
          <a:prstGeom prst="rect">
            <a:avLst/>
          </a:prstGeom>
          <a:noFill/>
          <a:ln/>
        </p:spPr>
        <p:txBody>
          <a:bodyPr wrap="square" lIns="0" tIns="0" rIns="0" bIns="0" rtlCol="0" anchor="ctr"/>
          <a:lstStyle/>
          <a:p>
            <a:pPr indent="0" marL="0">
              <a:buNone/>
            </a:pPr>
            <a:r>
              <a:rPr lang="en-US" sz="1500" b="1" dirty="0">
                <a:solidFill>
                  <a:srgbClr val="504924"/>
                </a:solidFill>
                <a:latin typeface="Manrope" pitchFamily="34" charset="0"/>
                <a:ea typeface="Manrope" pitchFamily="34" charset="-122"/>
                <a:cs typeface="Manrope" pitchFamily="34" charset="-120"/>
              </a:rPr>
              <a:t>Passwords &amp; payments to act for you</a:t>
            </a:r>
            <a:endParaRPr lang="en-US" sz="1500" dirty="0"/>
          </a:p>
        </p:txBody>
      </p:sp>
      <p:sp>
        <p:nvSpPr>
          <p:cNvPr id="38" name="Shape 34"/>
          <p:cNvSpPr/>
          <p:nvPr/>
        </p:nvSpPr>
        <p:spPr>
          <a:xfrm>
            <a:off x="7434072" y="5193792"/>
            <a:ext cx="64008" cy="64008"/>
          </a:xfrm>
          <a:prstGeom prst="rect">
            <a:avLst/>
          </a:prstGeom>
          <a:solidFill>
            <a:srgbClr val="2F77D1"/>
          </a:solidFill>
          <a:ln w="12700">
            <a:solidFill>
              <a:srgbClr val="2F77D1"/>
            </a:solidFill>
            <a:prstDash val="solid"/>
          </a:ln>
        </p:spPr>
      </p:sp>
      <p:sp>
        <p:nvSpPr>
          <p:cNvPr id="39" name="Text 35"/>
          <p:cNvSpPr/>
          <p:nvPr/>
        </p:nvSpPr>
        <p:spPr>
          <a:xfrm>
            <a:off x="7616952" y="5074920"/>
            <a:ext cx="3794760" cy="310896"/>
          </a:xfrm>
          <a:prstGeom prst="rect">
            <a:avLst/>
          </a:prstGeom>
          <a:noFill/>
          <a:ln/>
        </p:spPr>
        <p:txBody>
          <a:bodyPr wrap="square" lIns="0" tIns="0" rIns="0" bIns="0" rtlCol="0" anchor="ctr"/>
          <a:lstStyle/>
          <a:p>
            <a:pPr indent="0" marL="0">
              <a:buNone/>
            </a:pPr>
            <a:r>
              <a:rPr lang="en-US" sz="1500" b="1" dirty="0">
                <a:solidFill>
                  <a:srgbClr val="504924"/>
                </a:solidFill>
                <a:latin typeface="Manrope" pitchFamily="34" charset="0"/>
                <a:ea typeface="Manrope" pitchFamily="34" charset="-122"/>
                <a:cs typeface="Manrope" pitchFamily="34" charset="-120"/>
              </a:rPr>
              <a:t>Perpetual, irrevocable license</a:t>
            </a:r>
            <a:endParaRPr lang="en-US" sz="1500" dirty="0"/>
          </a:p>
        </p:txBody>
      </p:sp>
      <p:sp>
        <p:nvSpPr>
          <p:cNvPr id="40" name="Shape 36"/>
          <p:cNvSpPr/>
          <p:nvPr/>
        </p:nvSpPr>
        <p:spPr>
          <a:xfrm>
            <a:off x="7434072" y="5696712"/>
            <a:ext cx="64008" cy="64008"/>
          </a:xfrm>
          <a:prstGeom prst="rect">
            <a:avLst/>
          </a:prstGeom>
          <a:solidFill>
            <a:srgbClr val="469274"/>
          </a:solidFill>
          <a:ln w="12700">
            <a:solidFill>
              <a:srgbClr val="469274"/>
            </a:solidFill>
            <a:prstDash val="solid"/>
          </a:ln>
        </p:spPr>
      </p:sp>
      <p:sp>
        <p:nvSpPr>
          <p:cNvPr id="41" name="Text 37"/>
          <p:cNvSpPr/>
          <p:nvPr/>
        </p:nvSpPr>
        <p:spPr>
          <a:xfrm>
            <a:off x="7616952" y="5577840"/>
            <a:ext cx="3794760" cy="310896"/>
          </a:xfrm>
          <a:prstGeom prst="rect">
            <a:avLst/>
          </a:prstGeom>
          <a:noFill/>
          <a:ln/>
        </p:spPr>
        <p:txBody>
          <a:bodyPr wrap="square" lIns="0" tIns="0" rIns="0" bIns="0" rtlCol="0" anchor="ctr"/>
          <a:lstStyle/>
          <a:p>
            <a:pPr indent="0" marL="0">
              <a:buNone/>
            </a:pPr>
            <a:r>
              <a:rPr lang="en-US" sz="1500" b="1" dirty="0">
                <a:solidFill>
                  <a:srgbClr val="504924"/>
                </a:solidFill>
                <a:latin typeface="Manrope" pitchFamily="34" charset="0"/>
                <a:ea typeface="Manrope" pitchFamily="34" charset="-122"/>
                <a:cs typeface="Manrope" pitchFamily="34" charset="-120"/>
              </a:rPr>
              <a:t>Asked to delete: "I can’t"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0" y="0"/>
            <a:ext cx="12191695" cy="6858000"/>
          </a:xfrm>
          <a:prstGeom prst="rect">
            <a:avLst/>
          </a:prstGeom>
          <a:noFill/>
          <a:ln/>
        </p:spPr>
        <p:txBody>
          <a:bodyPr wrap="square" lIns="0" tIns="0" rIns="0" bIns="0" rtlCol="0" anchor="t"/>
          <a:lstStyle/>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p:txBody>
      </p:sp>
      <p:sp>
        <p:nvSpPr>
          <p:cNvPr id="3" name="Text 1"/>
          <p:cNvSpPr/>
          <p:nvPr/>
        </p:nvSpPr>
        <p:spPr>
          <a:xfrm>
            <a:off x="502920" y="164592"/>
            <a:ext cx="2743200" cy="411480"/>
          </a:xfrm>
          <a:prstGeom prst="rect">
            <a:avLst/>
          </a:prstGeom>
          <a:noFill/>
          <a:ln/>
        </p:spPr>
        <p:txBody>
          <a:bodyPr wrap="square" lIns="0" tIns="0" rIns="0" bIns="0" rtlCol="0" anchor="ctr"/>
          <a:lstStyle/>
          <a:p>
            <a:pPr indent="0" marL="0">
              <a:buNone/>
            </a:pPr>
            <a:r>
              <a:rPr lang="en-US" sz="2200" b="1" dirty="0">
                <a:solidFill>
                  <a:srgbClr val="31413D"/>
                </a:solidFill>
                <a:latin typeface="Caveat" pitchFamily="34" charset="0"/>
                <a:ea typeface="Caveat" pitchFamily="34" charset="-122"/>
                <a:cs typeface="Caveat" pitchFamily="34" charset="-120"/>
              </a:rPr>
              <a:t>Mohammed Razak</a:t>
            </a:r>
            <a:endParaRPr lang="en-US" sz="2200" dirty="0"/>
          </a:p>
        </p:txBody>
      </p:sp>
      <p:sp>
        <p:nvSpPr>
          <p:cNvPr id="4" name="Text 2"/>
          <p:cNvSpPr/>
          <p:nvPr/>
        </p:nvSpPr>
        <p:spPr>
          <a:xfrm>
            <a:off x="4754880" y="164592"/>
            <a:ext cx="6933895" cy="411480"/>
          </a:xfrm>
          <a:prstGeom prst="rect">
            <a:avLst/>
          </a:prstGeom>
          <a:noFill/>
          <a:ln/>
        </p:spPr>
        <p:txBody>
          <a:bodyPr wrap="square" lIns="0" tIns="0" rIns="0" bIns="0" rtlCol="0" anchor="ctr"/>
          <a:lstStyle/>
          <a:p>
            <a:pPr algn="r" indent="0" marL="0">
              <a:buNone/>
            </a:pPr>
            <a:r>
              <a:rPr lang="en-US" sz="900" dirty="0">
                <a:solidFill>
                  <a:srgbClr val="6F7B78"/>
                </a:solidFill>
                <a:latin typeface="DM Mono" pitchFamily="34" charset="0"/>
                <a:ea typeface="DM Mono" pitchFamily="34" charset="-122"/>
                <a:cs typeface="DM Mono" pitchFamily="34" charset="-120"/>
              </a:rPr>
              <a:t>01 the breach     </a:t>
            </a:r>
            <a:pPr algn="r" indent="0" marL="0">
              <a:buNone/>
            </a:pPr>
            <a:r>
              <a:rPr lang="en-US" sz="900" b="1" dirty="0">
                <a:solidFill>
                  <a:srgbClr val="2F77D1"/>
                </a:solidFill>
                <a:latin typeface="DM Mono" pitchFamily="34" charset="0"/>
                <a:ea typeface="DM Mono" pitchFamily="34" charset="-122"/>
                <a:cs typeface="DM Mono" pitchFamily="34" charset="-120"/>
              </a:rPr>
              <a:t>02 why     </a:t>
            </a:r>
            <a:pPr algn="r" indent="0" marL="0">
              <a:buNone/>
            </a:pPr>
            <a:r>
              <a:rPr lang="en-US" sz="900" dirty="0">
                <a:solidFill>
                  <a:srgbClr val="6F7B78"/>
                </a:solidFill>
                <a:latin typeface="DM Mono" pitchFamily="34" charset="0"/>
                <a:ea typeface="DM Mono" pitchFamily="34" charset="-122"/>
                <a:cs typeface="DM Mono" pitchFamily="34" charset="-120"/>
              </a:rPr>
              <a:t>03 badge     </a:t>
            </a:r>
            <a:pPr algn="r" indent="0" marL="0">
              <a:buNone/>
            </a:pPr>
            <a:r>
              <a:rPr lang="en-US" sz="900" dirty="0">
                <a:solidFill>
                  <a:srgbClr val="6F7B78"/>
                </a:solidFill>
                <a:latin typeface="DM Mono" pitchFamily="34" charset="0"/>
                <a:ea typeface="DM Mono" pitchFamily="34" charset="-122"/>
                <a:cs typeface="DM Mono" pitchFamily="34" charset="-120"/>
              </a:rPr>
              <a:t>04 demo     </a:t>
            </a:r>
            <a:pPr algn="r" indent="0" marL="0">
              <a:buNone/>
            </a:pPr>
            <a:r>
              <a:rPr lang="en-US" sz="900" dirty="0">
                <a:solidFill>
                  <a:srgbClr val="6F7B78"/>
                </a:solidFill>
                <a:latin typeface="DM Mono" pitchFamily="34" charset="0"/>
                <a:ea typeface="DM Mono" pitchFamily="34" charset="-122"/>
                <a:cs typeface="DM Mono" pitchFamily="34" charset="-120"/>
              </a:rPr>
              <a:t>05 next</a:t>
            </a:r>
            <a:endParaRPr lang="en-US" sz="900" dirty="0"/>
          </a:p>
        </p:txBody>
      </p:sp>
      <p:sp>
        <p:nvSpPr>
          <p:cNvPr id="5" name="Shape 3"/>
          <p:cNvSpPr/>
          <p:nvPr/>
        </p:nvSpPr>
        <p:spPr>
          <a:xfrm>
            <a:off x="502920" y="621792"/>
            <a:ext cx="11185855" cy="0"/>
          </a:xfrm>
          <a:prstGeom prst="line">
            <a:avLst/>
          </a:prstGeom>
          <a:noFill/>
          <a:ln w="12700">
            <a:solidFill>
              <a:srgbClr val="DFE4DC"/>
            </a:solidFill>
            <a:prstDash val="solid"/>
          </a:ln>
        </p:spPr>
      </p:sp>
      <p:sp>
        <p:nvSpPr>
          <p:cNvPr id="6" name="Shape 4"/>
          <p:cNvSpPr/>
          <p:nvPr/>
        </p:nvSpPr>
        <p:spPr>
          <a:xfrm rot="-120000">
            <a:off x="643535" y="1057452"/>
            <a:ext cx="2514600" cy="4809744"/>
          </a:xfrm>
          <a:prstGeom prst="rect">
            <a:avLst/>
          </a:prstGeom>
          <a:solidFill>
            <a:srgbClr val="7C5F16">
              <a:alpha val="14000"/>
            </a:srgbClr>
          </a:solidFill>
          <a:ln w="12700">
            <a:solidFill>
              <a:srgbClr val="F7F8F3">
                <a:alpha val="0"/>
              </a:srgbClr>
            </a:solidFill>
            <a:prstDash val="solid"/>
          </a:ln>
        </p:spPr>
      </p:sp>
      <p:pic>
        <p:nvPicPr>
          <p:cNvPr id="7" name="Image 0" descr="img/tweet_2.png">    </p:cNvPr>
          <p:cNvPicPr>
            <a:picLocks noChangeAspect="1"/>
          </p:cNvPicPr>
          <p:nvPr/>
        </p:nvPicPr>
        <p:blipFill>
          <a:blip r:embed="rId1"/>
          <a:srcRect l="0" r="0" t="0" b="0"/>
          <a:stretch/>
        </p:blipFill>
        <p:spPr>
          <a:xfrm rot="-120000">
            <a:off x="542896" y="960220"/>
            <a:ext cx="2514600" cy="4480560"/>
          </a:xfrm>
          <a:prstGeom prst="rect">
            <a:avLst/>
          </a:prstGeom>
        </p:spPr>
      </p:pic>
      <p:sp>
        <p:nvSpPr>
          <p:cNvPr id="8" name="Text 5"/>
          <p:cNvSpPr/>
          <p:nvPr/>
        </p:nvSpPr>
        <p:spPr>
          <a:xfrm rot="-120000">
            <a:off x="626825" y="5439315"/>
            <a:ext cx="2514600" cy="329184"/>
          </a:xfrm>
          <a:prstGeom prst="rect">
            <a:avLst/>
          </a:prstGeom>
          <a:solidFill>
            <a:srgbClr val="F7DFA0"/>
          </a:solidFill>
          <a:ln w="9525">
            <a:solidFill>
              <a:srgbClr val="342A0C">
                <a:alpha val="40000"/>
              </a:srgbClr>
            </a:solidFill>
          </a:ln>
        </p:spPr>
        <p:txBody>
          <a:bodyPr wrap="square" lIns="127000" tIns="25400" rIns="25400" bIns="127000" rtlCol="0" anchor="ctr"/>
          <a:lstStyle/>
          <a:p>
            <a:pPr indent="0" marL="0">
              <a:buNone/>
            </a:pPr>
            <a:r>
              <a:rPr lang="en-US" sz="900" dirty="0">
                <a:solidFill>
                  <a:srgbClr val="5D4B15"/>
                </a:solidFill>
                <a:latin typeface="DM Mono" pitchFamily="34" charset="0"/>
                <a:ea typeface="DM Mono" pitchFamily="34" charset="-122"/>
                <a:cs typeface="DM Mono" pitchFamily="34" charset="-120"/>
              </a:rPr>
              <a:t>"ALWAYS ON · ANY INTERACTION"</a:t>
            </a:r>
            <a:endParaRPr lang="en-US" sz="900" dirty="0"/>
          </a:p>
        </p:txBody>
      </p:sp>
      <p:sp>
        <p:nvSpPr>
          <p:cNvPr id="9" name="Shape 6"/>
          <p:cNvSpPr/>
          <p:nvPr/>
        </p:nvSpPr>
        <p:spPr>
          <a:xfrm rot="120000">
            <a:off x="3333994" y="1246714"/>
            <a:ext cx="2697480" cy="3712464"/>
          </a:xfrm>
          <a:prstGeom prst="rect">
            <a:avLst/>
          </a:prstGeom>
          <a:solidFill>
            <a:srgbClr val="7C5F16">
              <a:alpha val="14000"/>
            </a:srgbClr>
          </a:solidFill>
          <a:ln w="12700">
            <a:solidFill>
              <a:srgbClr val="F7F8F3">
                <a:alpha val="0"/>
              </a:srgbClr>
            </a:solidFill>
            <a:prstDash val="solid"/>
          </a:ln>
        </p:spPr>
      </p:sp>
      <p:pic>
        <p:nvPicPr>
          <p:cNvPr id="10" name="Image 1" descr="img/tweet_1.png">    </p:cNvPr>
          <p:cNvPicPr>
            <a:picLocks noChangeAspect="1"/>
          </p:cNvPicPr>
          <p:nvPr/>
        </p:nvPicPr>
        <p:blipFill>
          <a:blip r:embed="rId2"/>
          <a:srcRect l="0" r="0" t="0" b="0"/>
          <a:stretch/>
        </p:blipFill>
        <p:spPr>
          <a:xfrm rot="120000">
            <a:off x="3251864" y="1143100"/>
            <a:ext cx="2697480" cy="3383280"/>
          </a:xfrm>
          <a:prstGeom prst="rect">
            <a:avLst/>
          </a:prstGeom>
        </p:spPr>
      </p:pic>
      <p:sp>
        <p:nvSpPr>
          <p:cNvPr id="11" name="Text 7"/>
          <p:cNvSpPr/>
          <p:nvPr/>
        </p:nvSpPr>
        <p:spPr>
          <a:xfrm rot="120000">
            <a:off x="3187083" y="4525249"/>
            <a:ext cx="2697480" cy="329184"/>
          </a:xfrm>
          <a:prstGeom prst="rect">
            <a:avLst/>
          </a:prstGeom>
          <a:solidFill>
            <a:srgbClr val="F7DFA0"/>
          </a:solidFill>
          <a:ln w="9525">
            <a:solidFill>
              <a:srgbClr val="342A0C">
                <a:alpha val="40000"/>
              </a:srgbClr>
            </a:solidFill>
          </a:ln>
        </p:spPr>
        <p:txBody>
          <a:bodyPr wrap="square" lIns="127000" tIns="25400" rIns="25400" bIns="127000" rtlCol="0" anchor="ctr"/>
          <a:lstStyle/>
          <a:p>
            <a:pPr indent="0" marL="0">
              <a:buNone/>
            </a:pPr>
            <a:r>
              <a:rPr lang="en-US" sz="900" dirty="0">
                <a:solidFill>
                  <a:srgbClr val="5D4B15"/>
                </a:solidFill>
                <a:latin typeface="DM Mono" pitchFamily="34" charset="0"/>
                <a:ea typeface="DM Mono" pitchFamily="34" charset="-122"/>
                <a:cs typeface="DM Mono" pitchFamily="34" charset="-120"/>
              </a:rPr>
              <a:t>"PERPETUAL &amp; IRREVOCABLE"</a:t>
            </a:r>
            <a:endParaRPr lang="en-US" sz="900" dirty="0"/>
          </a:p>
        </p:txBody>
      </p:sp>
      <p:sp>
        <p:nvSpPr>
          <p:cNvPr id="12" name="Shape 8"/>
          <p:cNvSpPr/>
          <p:nvPr/>
        </p:nvSpPr>
        <p:spPr>
          <a:xfrm>
            <a:off x="6400800" y="1028700"/>
            <a:ext cx="82296" cy="82296"/>
          </a:xfrm>
          <a:prstGeom prst="rect">
            <a:avLst/>
          </a:prstGeom>
          <a:solidFill>
            <a:srgbClr val="2F77D1"/>
          </a:solidFill>
          <a:ln w="12700">
            <a:solidFill>
              <a:srgbClr val="2F77D1"/>
            </a:solidFill>
            <a:prstDash val="solid"/>
          </a:ln>
        </p:spPr>
      </p:sp>
      <p:sp>
        <p:nvSpPr>
          <p:cNvPr id="13" name="Text 9"/>
          <p:cNvSpPr/>
          <p:nvPr/>
        </p:nvSpPr>
        <p:spPr>
          <a:xfrm>
            <a:off x="6583680" y="960120"/>
            <a:ext cx="4572000" cy="219456"/>
          </a:xfrm>
          <a:prstGeom prst="rect">
            <a:avLst/>
          </a:prstGeom>
          <a:noFill/>
          <a:ln/>
        </p:spPr>
        <p:txBody>
          <a:bodyPr wrap="square" lIns="0" tIns="0" rIns="0" bIns="0" rtlCol="0" anchor="ctr"/>
          <a:lstStyle/>
          <a:p>
            <a:pPr indent="0" marL="0">
              <a:buNone/>
            </a:pPr>
            <a:r>
              <a:rPr lang="en-US" sz="1000" spc="100" kern="0" dirty="0">
                <a:solidFill>
                  <a:srgbClr val="71817D"/>
                </a:solidFill>
                <a:latin typeface="DM Mono" pitchFamily="34" charset="0"/>
                <a:ea typeface="DM Mono" pitchFamily="34" charset="-122"/>
                <a:cs typeface="DM Mono" pitchFamily="34" charset="-120"/>
              </a:rPr>
              <a:t>WHY THIS KEEPS HAPPENING</a:t>
            </a:r>
            <a:endParaRPr lang="en-US" sz="1000" dirty="0"/>
          </a:p>
        </p:txBody>
      </p:sp>
      <p:sp>
        <p:nvSpPr>
          <p:cNvPr id="14" name="Text 10"/>
          <p:cNvSpPr/>
          <p:nvPr/>
        </p:nvSpPr>
        <p:spPr>
          <a:xfrm>
            <a:off x="6400800" y="1234440"/>
            <a:ext cx="5577840" cy="822960"/>
          </a:xfrm>
          <a:prstGeom prst="rect">
            <a:avLst/>
          </a:prstGeom>
          <a:noFill/>
          <a:ln/>
        </p:spPr>
        <p:txBody>
          <a:bodyPr wrap="square" lIns="0" tIns="0" rIns="0" bIns="0" rtlCol="0" anchor="t"/>
          <a:lstStyle/>
          <a:p>
            <a:pPr indent="0" marL="0">
              <a:buNone/>
            </a:pPr>
            <a:r>
              <a:rPr lang="en-US" sz="3000" b="1" dirty="0">
                <a:solidFill>
                  <a:srgbClr val="21221C"/>
                </a:solidFill>
                <a:latin typeface="Caveat" pitchFamily="34" charset="0"/>
                <a:ea typeface="Caveat" pitchFamily="34" charset="-122"/>
                <a:cs typeface="Caveat" pitchFamily="34" charset="-120"/>
              </a:rPr>
              <a:t>One agent. One session. Every key.</a:t>
            </a:r>
            <a:endParaRPr lang="en-US" sz="3000" dirty="0"/>
          </a:p>
        </p:txBody>
      </p:sp>
      <p:sp>
        <p:nvSpPr>
          <p:cNvPr id="15" name="Text 11"/>
          <p:cNvSpPr/>
          <p:nvPr/>
        </p:nvSpPr>
        <p:spPr>
          <a:xfrm>
            <a:off x="6400800" y="2331720"/>
            <a:ext cx="411480" cy="41148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01</a:t>
            </a:r>
            <a:endParaRPr lang="en-US" sz="1000" dirty="0"/>
          </a:p>
        </p:txBody>
      </p:sp>
      <p:sp>
        <p:nvSpPr>
          <p:cNvPr id="16" name="Text 12"/>
          <p:cNvSpPr/>
          <p:nvPr/>
        </p:nvSpPr>
        <p:spPr>
          <a:xfrm>
            <a:off x="6858000" y="2276856"/>
            <a:ext cx="1737360" cy="502920"/>
          </a:xfrm>
          <a:prstGeom prst="rect">
            <a:avLst/>
          </a:prstGeom>
          <a:noFill/>
          <a:ln/>
        </p:spPr>
        <p:txBody>
          <a:bodyPr wrap="square" lIns="0" tIns="0" rIns="0" bIns="0" rtlCol="0" anchor="ctr"/>
          <a:lstStyle/>
          <a:p>
            <a:pPr indent="0" marL="0">
              <a:buNone/>
            </a:pPr>
            <a:r>
              <a:rPr lang="en-US" sz="2600" b="1" dirty="0">
                <a:solidFill>
                  <a:srgbClr val="D96D3C"/>
                </a:solidFill>
                <a:latin typeface="Caveat" pitchFamily="34" charset="0"/>
                <a:ea typeface="Caveat" pitchFamily="34" charset="-122"/>
                <a:cs typeface="Caveat" pitchFamily="34" charset="-120"/>
              </a:rPr>
              <a:t>over-access</a:t>
            </a:r>
            <a:endParaRPr lang="en-US" sz="2600" dirty="0"/>
          </a:p>
        </p:txBody>
      </p:sp>
      <p:sp>
        <p:nvSpPr>
          <p:cNvPr id="17" name="Text 13"/>
          <p:cNvSpPr/>
          <p:nvPr/>
        </p:nvSpPr>
        <p:spPr>
          <a:xfrm>
            <a:off x="8641080" y="2331720"/>
            <a:ext cx="3063240" cy="411480"/>
          </a:xfrm>
          <a:prstGeom prst="rect">
            <a:avLst/>
          </a:prstGeom>
          <a:noFill/>
          <a:ln/>
        </p:spPr>
        <p:txBody>
          <a:bodyPr wrap="square" lIns="0" tIns="0" rIns="0" bIns="0" rtlCol="0" anchor="ctr"/>
          <a:lstStyle/>
          <a:p>
            <a:pPr indent="0" marL="0">
              <a:buNone/>
            </a:pPr>
            <a:r>
              <a:rPr lang="en-US" sz="1400" dirty="0">
                <a:solidFill>
                  <a:srgbClr val="162122"/>
                </a:solidFill>
                <a:latin typeface="Manrope" pitchFamily="34" charset="0"/>
                <a:ea typeface="Manrope" pitchFamily="34" charset="-122"/>
                <a:cs typeface="Manrope" pitchFamily="34" charset="-120"/>
              </a:rPr>
              <a:t>Agents get your whole account, not the task.</a:t>
            </a:r>
            <a:endParaRPr lang="en-US" sz="1400" dirty="0"/>
          </a:p>
        </p:txBody>
      </p:sp>
      <p:sp>
        <p:nvSpPr>
          <p:cNvPr id="18" name="Shape 14"/>
          <p:cNvSpPr/>
          <p:nvPr/>
        </p:nvSpPr>
        <p:spPr>
          <a:xfrm>
            <a:off x="6400800" y="2880360"/>
            <a:ext cx="5303520" cy="0"/>
          </a:xfrm>
          <a:prstGeom prst="line">
            <a:avLst/>
          </a:prstGeom>
          <a:noFill/>
          <a:ln w="9525">
            <a:solidFill>
              <a:srgbClr val="DFE4DC"/>
            </a:solidFill>
            <a:prstDash val="solid"/>
          </a:ln>
        </p:spPr>
      </p:sp>
      <p:sp>
        <p:nvSpPr>
          <p:cNvPr id="19" name="Text 15"/>
          <p:cNvSpPr/>
          <p:nvPr/>
        </p:nvSpPr>
        <p:spPr>
          <a:xfrm>
            <a:off x="6400800" y="3017520"/>
            <a:ext cx="411480" cy="41148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02</a:t>
            </a:r>
            <a:endParaRPr lang="en-US" sz="1000" dirty="0"/>
          </a:p>
        </p:txBody>
      </p:sp>
      <p:sp>
        <p:nvSpPr>
          <p:cNvPr id="20" name="Text 16"/>
          <p:cNvSpPr/>
          <p:nvPr/>
        </p:nvSpPr>
        <p:spPr>
          <a:xfrm>
            <a:off x="6858000" y="2962656"/>
            <a:ext cx="1737360" cy="502920"/>
          </a:xfrm>
          <a:prstGeom prst="rect">
            <a:avLst/>
          </a:prstGeom>
          <a:noFill/>
          <a:ln/>
        </p:spPr>
        <p:txBody>
          <a:bodyPr wrap="square" lIns="0" tIns="0" rIns="0" bIns="0" rtlCol="0" anchor="ctr"/>
          <a:lstStyle/>
          <a:p>
            <a:pPr indent="0" marL="0">
              <a:buNone/>
            </a:pPr>
            <a:r>
              <a:rPr lang="en-US" sz="2600" b="1" dirty="0">
                <a:solidFill>
                  <a:srgbClr val="D96D3C"/>
                </a:solidFill>
                <a:latin typeface="Caveat" pitchFamily="34" charset="0"/>
                <a:ea typeface="Caveat" pitchFamily="34" charset="-122"/>
                <a:cs typeface="Caveat" pitchFamily="34" charset="-120"/>
              </a:rPr>
              <a:t>no boundary</a:t>
            </a:r>
            <a:endParaRPr lang="en-US" sz="2600" dirty="0"/>
          </a:p>
        </p:txBody>
      </p:sp>
      <p:sp>
        <p:nvSpPr>
          <p:cNvPr id="21" name="Text 17"/>
          <p:cNvSpPr/>
          <p:nvPr/>
        </p:nvSpPr>
        <p:spPr>
          <a:xfrm>
            <a:off x="8641080" y="3017520"/>
            <a:ext cx="3063240" cy="411480"/>
          </a:xfrm>
          <a:prstGeom prst="rect">
            <a:avLst/>
          </a:prstGeom>
          <a:noFill/>
          <a:ln/>
        </p:spPr>
        <p:txBody>
          <a:bodyPr wrap="square" lIns="0" tIns="0" rIns="0" bIns="0" rtlCol="0" anchor="ctr"/>
          <a:lstStyle/>
          <a:p>
            <a:pPr indent="0" marL="0">
              <a:buNone/>
            </a:pPr>
            <a:r>
              <a:rPr lang="en-US" sz="1400" dirty="0">
                <a:solidFill>
                  <a:srgbClr val="162122"/>
                </a:solidFill>
                <a:latin typeface="Manrope" pitchFamily="34" charset="0"/>
                <a:ea typeface="Manrope" pitchFamily="34" charset="-122"/>
                <a:cs typeface="Manrope" pitchFamily="34" charset="-120"/>
              </a:rPr>
              <a:t>The CMO bot can read payroll. Nothing stops it.</a:t>
            </a:r>
            <a:endParaRPr lang="en-US" sz="1400" dirty="0"/>
          </a:p>
        </p:txBody>
      </p:sp>
      <p:sp>
        <p:nvSpPr>
          <p:cNvPr id="22" name="Shape 18"/>
          <p:cNvSpPr/>
          <p:nvPr/>
        </p:nvSpPr>
        <p:spPr>
          <a:xfrm>
            <a:off x="6400800" y="3566160"/>
            <a:ext cx="5303520" cy="0"/>
          </a:xfrm>
          <a:prstGeom prst="line">
            <a:avLst/>
          </a:prstGeom>
          <a:noFill/>
          <a:ln w="9525">
            <a:solidFill>
              <a:srgbClr val="DFE4DC"/>
            </a:solidFill>
            <a:prstDash val="solid"/>
          </a:ln>
        </p:spPr>
      </p:sp>
      <p:sp>
        <p:nvSpPr>
          <p:cNvPr id="23" name="Text 19"/>
          <p:cNvSpPr/>
          <p:nvPr/>
        </p:nvSpPr>
        <p:spPr>
          <a:xfrm>
            <a:off x="6400800" y="3703320"/>
            <a:ext cx="411480" cy="41148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03</a:t>
            </a:r>
            <a:endParaRPr lang="en-US" sz="1000" dirty="0"/>
          </a:p>
        </p:txBody>
      </p:sp>
      <p:sp>
        <p:nvSpPr>
          <p:cNvPr id="24" name="Text 20"/>
          <p:cNvSpPr/>
          <p:nvPr/>
        </p:nvSpPr>
        <p:spPr>
          <a:xfrm>
            <a:off x="6858000" y="3648456"/>
            <a:ext cx="1737360" cy="502920"/>
          </a:xfrm>
          <a:prstGeom prst="rect">
            <a:avLst/>
          </a:prstGeom>
          <a:noFill/>
          <a:ln/>
        </p:spPr>
        <p:txBody>
          <a:bodyPr wrap="square" lIns="0" tIns="0" rIns="0" bIns="0" rtlCol="0" anchor="ctr"/>
          <a:lstStyle/>
          <a:p>
            <a:pPr indent="0" marL="0">
              <a:buNone/>
            </a:pPr>
            <a:r>
              <a:rPr lang="en-US" sz="2600" b="1" dirty="0">
                <a:solidFill>
                  <a:srgbClr val="D96D3C"/>
                </a:solidFill>
                <a:latin typeface="Caveat" pitchFamily="34" charset="0"/>
                <a:ea typeface="Caveat" pitchFamily="34" charset="-122"/>
                <a:cs typeface="Caveat" pitchFamily="34" charset="-120"/>
              </a:rPr>
              <a:t>injection</a:t>
            </a:r>
            <a:endParaRPr lang="en-US" sz="2600" dirty="0"/>
          </a:p>
        </p:txBody>
      </p:sp>
      <p:sp>
        <p:nvSpPr>
          <p:cNvPr id="25" name="Text 21"/>
          <p:cNvSpPr/>
          <p:nvPr/>
        </p:nvSpPr>
        <p:spPr>
          <a:xfrm>
            <a:off x="8641080" y="3703320"/>
            <a:ext cx="3063240" cy="411480"/>
          </a:xfrm>
          <a:prstGeom prst="rect">
            <a:avLst/>
          </a:prstGeom>
          <a:noFill/>
          <a:ln/>
        </p:spPr>
        <p:txBody>
          <a:bodyPr wrap="square" lIns="0" tIns="0" rIns="0" bIns="0" rtlCol="0" anchor="ctr"/>
          <a:lstStyle/>
          <a:p>
            <a:pPr indent="0" marL="0">
              <a:buNone/>
            </a:pPr>
            <a:r>
              <a:rPr lang="en-US" sz="1400" dirty="0">
                <a:solidFill>
                  <a:srgbClr val="162122"/>
                </a:solidFill>
                <a:latin typeface="Manrope" pitchFamily="34" charset="0"/>
                <a:ea typeface="Manrope" pitchFamily="34" charset="-122"/>
                <a:cs typeface="Manrope" pitchFamily="34" charset="-120"/>
              </a:rPr>
              <a:t>One poisoned page and it exfiltrates.</a:t>
            </a:r>
            <a:endParaRPr lang="en-US" sz="1400" dirty="0"/>
          </a:p>
        </p:txBody>
      </p:sp>
      <p:sp>
        <p:nvSpPr>
          <p:cNvPr id="26" name="Shape 22"/>
          <p:cNvSpPr/>
          <p:nvPr/>
        </p:nvSpPr>
        <p:spPr>
          <a:xfrm>
            <a:off x="6400800" y="4251960"/>
            <a:ext cx="5303520" cy="0"/>
          </a:xfrm>
          <a:prstGeom prst="line">
            <a:avLst/>
          </a:prstGeom>
          <a:noFill/>
          <a:ln w="9525">
            <a:solidFill>
              <a:srgbClr val="DFE4DC"/>
            </a:solidFill>
            <a:prstDash val="solid"/>
          </a:ln>
        </p:spPr>
      </p:sp>
      <p:sp>
        <p:nvSpPr>
          <p:cNvPr id="27" name="Text 23"/>
          <p:cNvSpPr/>
          <p:nvPr/>
        </p:nvSpPr>
        <p:spPr>
          <a:xfrm>
            <a:off x="6400800" y="4389120"/>
            <a:ext cx="411480" cy="41148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04</a:t>
            </a:r>
            <a:endParaRPr lang="en-US" sz="1000" dirty="0"/>
          </a:p>
        </p:txBody>
      </p:sp>
      <p:sp>
        <p:nvSpPr>
          <p:cNvPr id="28" name="Text 24"/>
          <p:cNvSpPr/>
          <p:nvPr/>
        </p:nvSpPr>
        <p:spPr>
          <a:xfrm>
            <a:off x="6858000" y="4334256"/>
            <a:ext cx="1737360" cy="502920"/>
          </a:xfrm>
          <a:prstGeom prst="rect">
            <a:avLst/>
          </a:prstGeom>
          <a:noFill/>
          <a:ln/>
        </p:spPr>
        <p:txBody>
          <a:bodyPr wrap="square" lIns="0" tIns="0" rIns="0" bIns="0" rtlCol="0" anchor="ctr"/>
          <a:lstStyle/>
          <a:p>
            <a:pPr indent="0" marL="0">
              <a:buNone/>
            </a:pPr>
            <a:r>
              <a:rPr lang="en-US" sz="2600" b="1" dirty="0">
                <a:solidFill>
                  <a:srgbClr val="D96D3C"/>
                </a:solidFill>
                <a:latin typeface="Caveat" pitchFamily="34" charset="0"/>
                <a:ea typeface="Caveat" pitchFamily="34" charset="-122"/>
                <a:cs typeface="Caveat" pitchFamily="34" charset="-120"/>
              </a:rPr>
              <a:t>oversharing</a:t>
            </a:r>
            <a:endParaRPr lang="en-US" sz="2600" dirty="0"/>
          </a:p>
        </p:txBody>
      </p:sp>
      <p:sp>
        <p:nvSpPr>
          <p:cNvPr id="29" name="Text 25"/>
          <p:cNvSpPr/>
          <p:nvPr/>
        </p:nvSpPr>
        <p:spPr>
          <a:xfrm>
            <a:off x="8641080" y="4389120"/>
            <a:ext cx="3063240" cy="411480"/>
          </a:xfrm>
          <a:prstGeom prst="rect">
            <a:avLst/>
          </a:prstGeom>
          <a:noFill/>
          <a:ln/>
        </p:spPr>
        <p:txBody>
          <a:bodyPr wrap="square" lIns="0" tIns="0" rIns="0" bIns="0" rtlCol="0" anchor="ctr"/>
          <a:lstStyle/>
          <a:p>
            <a:pPr indent="0" marL="0">
              <a:buNone/>
            </a:pPr>
            <a:r>
              <a:rPr lang="en-US" sz="1400" dirty="0">
                <a:solidFill>
                  <a:srgbClr val="162122"/>
                </a:solidFill>
                <a:latin typeface="Manrope" pitchFamily="34" charset="0"/>
                <a:ea typeface="Manrope" pitchFamily="34" charset="-122"/>
                <a:cs typeface="Manrope" pitchFamily="34" charset="-120"/>
              </a:rPr>
              <a:t>Every agent hears every meeting, every secret.</a:t>
            </a:r>
            <a:endParaRPr lang="en-US" sz="1400" dirty="0"/>
          </a:p>
        </p:txBody>
      </p:sp>
      <p:sp>
        <p:nvSpPr>
          <p:cNvPr id="30" name="Shape 26"/>
          <p:cNvSpPr/>
          <p:nvPr/>
        </p:nvSpPr>
        <p:spPr>
          <a:xfrm>
            <a:off x="6400800" y="4937760"/>
            <a:ext cx="5303520" cy="0"/>
          </a:xfrm>
          <a:prstGeom prst="line">
            <a:avLst/>
          </a:prstGeom>
          <a:noFill/>
          <a:ln w="9525">
            <a:solidFill>
              <a:srgbClr val="DFE4DC"/>
            </a:solidFill>
            <a:prstDash val="solid"/>
          </a:ln>
        </p:spPr>
      </p:sp>
      <p:sp>
        <p:nvSpPr>
          <p:cNvPr id="31" name="Text 27"/>
          <p:cNvSpPr/>
          <p:nvPr/>
        </p:nvSpPr>
        <p:spPr>
          <a:xfrm>
            <a:off x="6400800" y="5257800"/>
            <a:ext cx="5303520" cy="731520"/>
          </a:xfrm>
          <a:prstGeom prst="rect">
            <a:avLst/>
          </a:prstGeom>
          <a:noFill/>
          <a:ln/>
        </p:spPr>
        <p:txBody>
          <a:bodyPr wrap="square" lIns="0" tIns="0" rIns="0" bIns="0" rtlCol="0" anchor="ctr"/>
          <a:lstStyle/>
          <a:p>
            <a:pPr indent="0" marL="0">
              <a:buNone/>
            </a:pPr>
            <a:r>
              <a:rPr lang="en-US" sz="3000" b="1" dirty="0">
                <a:solidFill>
                  <a:srgbClr val="2F77D1"/>
                </a:solidFill>
                <a:latin typeface="Caveat" pitchFamily="34" charset="0"/>
                <a:ea typeface="Caveat" pitchFamily="34" charset="-122"/>
                <a:cs typeface="Caveat" pitchFamily="34" charset="-120"/>
              </a:rPr>
              <a:t>IAM checks the person. Nobody checks the agent.</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0" y="0"/>
            <a:ext cx="12191695" cy="6858000"/>
          </a:xfrm>
          <a:prstGeom prst="rect">
            <a:avLst/>
          </a:prstGeom>
          <a:noFill/>
          <a:ln/>
        </p:spPr>
        <p:txBody>
          <a:bodyPr wrap="square" lIns="0" tIns="0" rIns="0" bIns="0" rtlCol="0" anchor="t"/>
          <a:lstStyle/>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p:txBody>
      </p:sp>
      <p:sp>
        <p:nvSpPr>
          <p:cNvPr id="3" name="Text 1"/>
          <p:cNvSpPr/>
          <p:nvPr/>
        </p:nvSpPr>
        <p:spPr>
          <a:xfrm>
            <a:off x="502920" y="164592"/>
            <a:ext cx="2743200" cy="411480"/>
          </a:xfrm>
          <a:prstGeom prst="rect">
            <a:avLst/>
          </a:prstGeom>
          <a:noFill/>
          <a:ln/>
        </p:spPr>
        <p:txBody>
          <a:bodyPr wrap="square" lIns="0" tIns="0" rIns="0" bIns="0" rtlCol="0" anchor="ctr"/>
          <a:lstStyle/>
          <a:p>
            <a:pPr indent="0" marL="0">
              <a:buNone/>
            </a:pPr>
            <a:r>
              <a:rPr lang="en-US" sz="2200" b="1" dirty="0">
                <a:solidFill>
                  <a:srgbClr val="31413D"/>
                </a:solidFill>
                <a:latin typeface="Caveat" pitchFamily="34" charset="0"/>
                <a:ea typeface="Caveat" pitchFamily="34" charset="-122"/>
                <a:cs typeface="Caveat" pitchFamily="34" charset="-120"/>
              </a:rPr>
              <a:t>Mohammed Razak</a:t>
            </a:r>
            <a:endParaRPr lang="en-US" sz="2200" dirty="0"/>
          </a:p>
        </p:txBody>
      </p:sp>
      <p:sp>
        <p:nvSpPr>
          <p:cNvPr id="4" name="Text 2"/>
          <p:cNvSpPr/>
          <p:nvPr/>
        </p:nvSpPr>
        <p:spPr>
          <a:xfrm>
            <a:off x="4754880" y="164592"/>
            <a:ext cx="6933895" cy="411480"/>
          </a:xfrm>
          <a:prstGeom prst="rect">
            <a:avLst/>
          </a:prstGeom>
          <a:noFill/>
          <a:ln/>
        </p:spPr>
        <p:txBody>
          <a:bodyPr wrap="square" lIns="0" tIns="0" rIns="0" bIns="0" rtlCol="0" anchor="ctr"/>
          <a:lstStyle/>
          <a:p>
            <a:pPr algn="r" indent="0" marL="0">
              <a:buNone/>
            </a:pPr>
            <a:r>
              <a:rPr lang="en-US" sz="900" dirty="0">
                <a:solidFill>
                  <a:srgbClr val="6F7B78"/>
                </a:solidFill>
                <a:latin typeface="DM Mono" pitchFamily="34" charset="0"/>
                <a:ea typeface="DM Mono" pitchFamily="34" charset="-122"/>
                <a:cs typeface="DM Mono" pitchFamily="34" charset="-120"/>
              </a:rPr>
              <a:t>01 the breach     </a:t>
            </a:r>
            <a:pPr algn="r" indent="0" marL="0">
              <a:buNone/>
            </a:pPr>
            <a:r>
              <a:rPr lang="en-US" sz="900" dirty="0">
                <a:solidFill>
                  <a:srgbClr val="6F7B78"/>
                </a:solidFill>
                <a:latin typeface="DM Mono" pitchFamily="34" charset="0"/>
                <a:ea typeface="DM Mono" pitchFamily="34" charset="-122"/>
                <a:cs typeface="DM Mono" pitchFamily="34" charset="-120"/>
              </a:rPr>
              <a:t>02 why     </a:t>
            </a:r>
            <a:pPr algn="r" indent="0" marL="0">
              <a:buNone/>
            </a:pPr>
            <a:r>
              <a:rPr lang="en-US" sz="900" b="1" dirty="0">
                <a:solidFill>
                  <a:srgbClr val="2F77D1"/>
                </a:solidFill>
                <a:latin typeface="DM Mono" pitchFamily="34" charset="0"/>
                <a:ea typeface="DM Mono" pitchFamily="34" charset="-122"/>
                <a:cs typeface="DM Mono" pitchFamily="34" charset="-120"/>
              </a:rPr>
              <a:t>03 badge     </a:t>
            </a:r>
            <a:pPr algn="r" indent="0" marL="0">
              <a:buNone/>
            </a:pPr>
            <a:r>
              <a:rPr lang="en-US" sz="900" dirty="0">
                <a:solidFill>
                  <a:srgbClr val="6F7B78"/>
                </a:solidFill>
                <a:latin typeface="DM Mono" pitchFamily="34" charset="0"/>
                <a:ea typeface="DM Mono" pitchFamily="34" charset="-122"/>
                <a:cs typeface="DM Mono" pitchFamily="34" charset="-120"/>
              </a:rPr>
              <a:t>04 demo     </a:t>
            </a:r>
            <a:pPr algn="r" indent="0" marL="0">
              <a:buNone/>
            </a:pPr>
            <a:r>
              <a:rPr lang="en-US" sz="900" dirty="0">
                <a:solidFill>
                  <a:srgbClr val="6F7B78"/>
                </a:solidFill>
                <a:latin typeface="DM Mono" pitchFamily="34" charset="0"/>
                <a:ea typeface="DM Mono" pitchFamily="34" charset="-122"/>
                <a:cs typeface="DM Mono" pitchFamily="34" charset="-120"/>
              </a:rPr>
              <a:t>05 next</a:t>
            </a:r>
            <a:endParaRPr lang="en-US" sz="900" dirty="0"/>
          </a:p>
        </p:txBody>
      </p:sp>
      <p:sp>
        <p:nvSpPr>
          <p:cNvPr id="5" name="Shape 3"/>
          <p:cNvSpPr/>
          <p:nvPr/>
        </p:nvSpPr>
        <p:spPr>
          <a:xfrm>
            <a:off x="502920" y="621792"/>
            <a:ext cx="11185855" cy="0"/>
          </a:xfrm>
          <a:prstGeom prst="line">
            <a:avLst/>
          </a:prstGeom>
          <a:noFill/>
          <a:ln w="12700">
            <a:solidFill>
              <a:srgbClr val="DFE4DC"/>
            </a:solidFill>
            <a:prstDash val="solid"/>
          </a:ln>
        </p:spPr>
      </p:sp>
      <p:sp>
        <p:nvSpPr>
          <p:cNvPr id="6" name="Shape 4"/>
          <p:cNvSpPr/>
          <p:nvPr/>
        </p:nvSpPr>
        <p:spPr>
          <a:xfrm>
            <a:off x="548640" y="982980"/>
            <a:ext cx="82296" cy="82296"/>
          </a:xfrm>
          <a:prstGeom prst="rect">
            <a:avLst/>
          </a:prstGeom>
          <a:solidFill>
            <a:srgbClr val="2F77D1"/>
          </a:solidFill>
          <a:ln w="12700">
            <a:solidFill>
              <a:srgbClr val="2F77D1"/>
            </a:solidFill>
            <a:prstDash val="solid"/>
          </a:ln>
        </p:spPr>
      </p:sp>
      <p:sp>
        <p:nvSpPr>
          <p:cNvPr id="7" name="Text 5"/>
          <p:cNvSpPr/>
          <p:nvPr/>
        </p:nvSpPr>
        <p:spPr>
          <a:xfrm>
            <a:off x="731520" y="914400"/>
            <a:ext cx="4572000" cy="219456"/>
          </a:xfrm>
          <a:prstGeom prst="rect">
            <a:avLst/>
          </a:prstGeom>
          <a:noFill/>
          <a:ln/>
        </p:spPr>
        <p:txBody>
          <a:bodyPr wrap="square" lIns="0" tIns="0" rIns="0" bIns="0" rtlCol="0" anchor="ctr"/>
          <a:lstStyle/>
          <a:p>
            <a:pPr indent="0" marL="0">
              <a:buNone/>
            </a:pPr>
            <a:r>
              <a:rPr lang="en-US" sz="1000" spc="100" kern="0" dirty="0">
                <a:solidFill>
                  <a:srgbClr val="71817D"/>
                </a:solidFill>
                <a:latin typeface="DM Mono" pitchFamily="34" charset="0"/>
                <a:ea typeface="DM Mono" pitchFamily="34" charset="-122"/>
                <a:cs typeface="DM Mono" pitchFamily="34" charset="-120"/>
              </a:rPr>
              <a:t>WHAT WE BUILT TODAY</a:t>
            </a:r>
            <a:endParaRPr lang="en-US" sz="1000" dirty="0"/>
          </a:p>
        </p:txBody>
      </p:sp>
      <p:sp>
        <p:nvSpPr>
          <p:cNvPr id="8" name="Text 6"/>
          <p:cNvSpPr/>
          <p:nvPr/>
        </p:nvSpPr>
        <p:spPr>
          <a:xfrm>
            <a:off x="548640" y="1188720"/>
            <a:ext cx="11064240" cy="777240"/>
          </a:xfrm>
          <a:prstGeom prst="rect">
            <a:avLst/>
          </a:prstGeom>
          <a:noFill/>
          <a:ln/>
        </p:spPr>
        <p:txBody>
          <a:bodyPr wrap="square" lIns="0" tIns="0" rIns="0" bIns="0" rtlCol="0" anchor="t"/>
          <a:lstStyle/>
          <a:p>
            <a:pPr indent="0" marL="0">
              <a:buNone/>
            </a:pPr>
            <a:r>
              <a:rPr lang="en-US" sz="4200" b="1" dirty="0">
                <a:solidFill>
                  <a:srgbClr val="21221C"/>
                </a:solidFill>
                <a:latin typeface="Caveat" pitchFamily="34" charset="0"/>
                <a:ea typeface="Caveat" pitchFamily="34" charset="-122"/>
                <a:cs typeface="Caveat" pitchFamily="34" charset="-120"/>
              </a:rPr>
              <a:t>BADGE: </a:t>
            </a:r>
            <a:pPr indent="0" marL="0">
              <a:buNone/>
            </a:pPr>
            <a:r>
              <a:rPr lang="en-US" sz="4200" b="1" dirty="0">
                <a:solidFill>
                  <a:srgbClr val="2F77D1"/>
                </a:solidFill>
                <a:latin typeface="Caveat" pitchFamily="34" charset="0"/>
                <a:ea typeface="Caveat" pitchFamily="34" charset="-122"/>
                <a:cs typeface="Caveat" pitchFamily="34" charset="-120"/>
              </a:rPr>
              <a:t>every AI employee gets a badge.</a:t>
            </a:r>
            <a:endParaRPr lang="en-US" sz="4200" dirty="0"/>
          </a:p>
        </p:txBody>
      </p:sp>
      <p:sp>
        <p:nvSpPr>
          <p:cNvPr id="9" name="Text 7"/>
          <p:cNvSpPr/>
          <p:nvPr/>
        </p:nvSpPr>
        <p:spPr>
          <a:xfrm>
            <a:off x="548640" y="1920240"/>
            <a:ext cx="11064240" cy="411480"/>
          </a:xfrm>
          <a:prstGeom prst="rect">
            <a:avLst/>
          </a:prstGeom>
          <a:noFill/>
          <a:ln/>
        </p:spPr>
        <p:txBody>
          <a:bodyPr wrap="square" lIns="0" tIns="0" rIns="0" bIns="0" rtlCol="0" anchor="ctr"/>
          <a:lstStyle/>
          <a:p>
            <a:pPr indent="0" marL="0">
              <a:buNone/>
            </a:pPr>
            <a:r>
              <a:rPr lang="en-US" sz="1800" dirty="0">
                <a:solidFill>
                  <a:srgbClr val="162122"/>
                </a:solidFill>
                <a:latin typeface="Manrope" pitchFamily="34" charset="0"/>
                <a:ea typeface="Manrope" pitchFamily="34" charset="-122"/>
                <a:cs typeface="Manrope" pitchFamily="34" charset="-120"/>
              </a:rPr>
              <a:t>AgntID checks every tool call against it, at runtime.</a:t>
            </a:r>
            <a:endParaRPr lang="en-US" sz="1800" dirty="0"/>
          </a:p>
        </p:txBody>
      </p:sp>
      <p:sp>
        <p:nvSpPr>
          <p:cNvPr id="10" name="Shape 8"/>
          <p:cNvSpPr/>
          <p:nvPr/>
        </p:nvSpPr>
        <p:spPr>
          <a:xfrm>
            <a:off x="621792" y="2724912"/>
            <a:ext cx="2377440" cy="2377440"/>
          </a:xfrm>
          <a:prstGeom prst="rect">
            <a:avLst/>
          </a:prstGeom>
          <a:solidFill>
            <a:srgbClr val="7C5F16">
              <a:alpha val="12000"/>
            </a:srgbClr>
          </a:solidFill>
          <a:ln w="12700">
            <a:solidFill>
              <a:srgbClr val="F7F8F3">
                <a:alpha val="0"/>
              </a:srgbClr>
            </a:solidFill>
            <a:prstDash val="solid"/>
          </a:ln>
        </p:spPr>
      </p:sp>
      <p:sp>
        <p:nvSpPr>
          <p:cNvPr id="11" name="Shape 9"/>
          <p:cNvSpPr/>
          <p:nvPr/>
        </p:nvSpPr>
        <p:spPr>
          <a:xfrm>
            <a:off x="548640" y="2651760"/>
            <a:ext cx="2377440" cy="2377440"/>
          </a:xfrm>
          <a:prstGeom prst="rect">
            <a:avLst/>
          </a:prstGeom>
          <a:solidFill>
            <a:srgbClr val="FFFFFF"/>
          </a:solidFill>
          <a:ln w="19050">
            <a:solidFill>
              <a:srgbClr val="85918E"/>
            </a:solidFill>
            <a:prstDash val="solid"/>
          </a:ln>
        </p:spPr>
      </p:sp>
      <p:sp>
        <p:nvSpPr>
          <p:cNvPr id="12" name="Text 10"/>
          <p:cNvSpPr/>
          <p:nvPr/>
        </p:nvSpPr>
        <p:spPr>
          <a:xfrm>
            <a:off x="731520" y="2743200"/>
            <a:ext cx="2011680" cy="502920"/>
          </a:xfrm>
          <a:prstGeom prst="rect">
            <a:avLst/>
          </a:prstGeom>
          <a:noFill/>
          <a:ln/>
        </p:spPr>
        <p:txBody>
          <a:bodyPr wrap="square" lIns="0" tIns="0" rIns="0" bIns="0" rtlCol="0" anchor="ctr"/>
          <a:lstStyle/>
          <a:p>
            <a:pPr indent="0" marL="0">
              <a:buNone/>
            </a:pPr>
            <a:r>
              <a:rPr lang="en-US" sz="2600" b="1" dirty="0">
                <a:solidFill>
                  <a:srgbClr val="85918E"/>
                </a:solidFill>
                <a:latin typeface="Caveat" pitchFamily="34" charset="0"/>
                <a:ea typeface="Caveat" pitchFamily="34" charset="-122"/>
                <a:cs typeface="Caveat" pitchFamily="34" charset="-120"/>
              </a:rPr>
              <a:t>you</a:t>
            </a:r>
            <a:endParaRPr lang="en-US" sz="2600" dirty="0"/>
          </a:p>
        </p:txBody>
      </p:sp>
      <p:sp>
        <p:nvSpPr>
          <p:cNvPr id="13" name="Text 11"/>
          <p:cNvSpPr/>
          <p:nvPr/>
        </p:nvSpPr>
        <p:spPr>
          <a:xfrm>
            <a:off x="731520" y="3291840"/>
            <a:ext cx="2011680" cy="1645920"/>
          </a:xfrm>
          <a:prstGeom prst="rect">
            <a:avLst/>
          </a:prstGeom>
          <a:noFill/>
          <a:ln/>
        </p:spPr>
        <p:txBody>
          <a:bodyPr wrap="square" lIns="0" tIns="0" rIns="0" bIns="0" rtlCol="0" anchor="t"/>
          <a:lstStyle/>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Chat with the firm</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or just talk: live</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meeting via Deepgram</a:t>
            </a:r>
            <a:endParaRPr lang="en-US" sz="1300" dirty="0"/>
          </a:p>
        </p:txBody>
      </p:sp>
      <p:sp>
        <p:nvSpPr>
          <p:cNvPr id="14" name="Shape 12"/>
          <p:cNvSpPr/>
          <p:nvPr/>
        </p:nvSpPr>
        <p:spPr>
          <a:xfrm>
            <a:off x="3364992" y="2724912"/>
            <a:ext cx="2651760" cy="2377440"/>
          </a:xfrm>
          <a:prstGeom prst="rect">
            <a:avLst/>
          </a:prstGeom>
          <a:solidFill>
            <a:srgbClr val="7C5F16">
              <a:alpha val="12000"/>
            </a:srgbClr>
          </a:solidFill>
          <a:ln w="12700">
            <a:solidFill>
              <a:srgbClr val="F7F8F3">
                <a:alpha val="0"/>
              </a:srgbClr>
            </a:solidFill>
            <a:prstDash val="solid"/>
          </a:ln>
        </p:spPr>
      </p:sp>
      <p:sp>
        <p:nvSpPr>
          <p:cNvPr id="15" name="Shape 13"/>
          <p:cNvSpPr/>
          <p:nvPr/>
        </p:nvSpPr>
        <p:spPr>
          <a:xfrm>
            <a:off x="3291840" y="2651760"/>
            <a:ext cx="2651760" cy="2377440"/>
          </a:xfrm>
          <a:prstGeom prst="rect">
            <a:avLst/>
          </a:prstGeom>
          <a:solidFill>
            <a:srgbClr val="FFFFFF"/>
          </a:solidFill>
          <a:ln w="19050">
            <a:solidFill>
              <a:srgbClr val="7750CE"/>
            </a:solidFill>
            <a:prstDash val="solid"/>
          </a:ln>
        </p:spPr>
      </p:sp>
      <p:sp>
        <p:nvSpPr>
          <p:cNvPr id="16" name="Text 14"/>
          <p:cNvSpPr/>
          <p:nvPr/>
        </p:nvSpPr>
        <p:spPr>
          <a:xfrm>
            <a:off x="3474720" y="2743200"/>
            <a:ext cx="2286000" cy="502920"/>
          </a:xfrm>
          <a:prstGeom prst="rect">
            <a:avLst/>
          </a:prstGeom>
          <a:noFill/>
          <a:ln/>
        </p:spPr>
        <p:txBody>
          <a:bodyPr wrap="square" lIns="0" tIns="0" rIns="0" bIns="0" rtlCol="0" anchor="ctr"/>
          <a:lstStyle/>
          <a:p>
            <a:pPr indent="0" marL="0">
              <a:buNone/>
            </a:pPr>
            <a:r>
              <a:rPr lang="en-US" sz="2600" b="1" dirty="0">
                <a:solidFill>
                  <a:srgbClr val="7750CE"/>
                </a:solidFill>
                <a:latin typeface="Caveat" pitchFamily="34" charset="0"/>
                <a:ea typeface="Caveat" pitchFamily="34" charset="-122"/>
                <a:cs typeface="Caveat" pitchFamily="34" charset="-120"/>
              </a:rPr>
              <a:t>AI employees</a:t>
            </a:r>
            <a:endParaRPr lang="en-US" sz="2600" dirty="0"/>
          </a:p>
        </p:txBody>
      </p:sp>
      <p:sp>
        <p:nvSpPr>
          <p:cNvPr id="17" name="Text 15"/>
          <p:cNvSpPr/>
          <p:nvPr/>
        </p:nvSpPr>
        <p:spPr>
          <a:xfrm>
            <a:off x="3474720" y="3291840"/>
            <a:ext cx="2286000" cy="1645920"/>
          </a:xfrm>
          <a:prstGeom prst="rect">
            <a:avLst/>
          </a:prstGeom>
          <a:noFill/>
          <a:ln/>
        </p:spPr>
        <p:txBody>
          <a:bodyPr wrap="square" lIns="0" tIns="0" rIns="0" bIns="0" rtlCol="0" anchor="t"/>
          <a:lstStyle/>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Mira · CMO</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Arun · Analyst</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Jules · CTO</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each with its own badge</a:t>
            </a:r>
            <a:endParaRPr lang="en-US" sz="1300" dirty="0"/>
          </a:p>
        </p:txBody>
      </p:sp>
      <p:sp>
        <p:nvSpPr>
          <p:cNvPr id="18" name="Shape 16"/>
          <p:cNvSpPr/>
          <p:nvPr/>
        </p:nvSpPr>
        <p:spPr>
          <a:xfrm>
            <a:off x="6382512" y="2724912"/>
            <a:ext cx="2926080" cy="2377440"/>
          </a:xfrm>
          <a:prstGeom prst="rect">
            <a:avLst/>
          </a:prstGeom>
          <a:solidFill>
            <a:srgbClr val="7C5F16">
              <a:alpha val="12000"/>
            </a:srgbClr>
          </a:solidFill>
          <a:ln w="12700">
            <a:solidFill>
              <a:srgbClr val="F7F8F3">
                <a:alpha val="0"/>
              </a:srgbClr>
            </a:solidFill>
            <a:prstDash val="solid"/>
          </a:ln>
        </p:spPr>
      </p:sp>
      <p:sp>
        <p:nvSpPr>
          <p:cNvPr id="19" name="Shape 17"/>
          <p:cNvSpPr/>
          <p:nvPr/>
        </p:nvSpPr>
        <p:spPr>
          <a:xfrm>
            <a:off x="6309360" y="2651760"/>
            <a:ext cx="2926080" cy="2377440"/>
          </a:xfrm>
          <a:prstGeom prst="rect">
            <a:avLst/>
          </a:prstGeom>
          <a:solidFill>
            <a:srgbClr val="FFFFFF"/>
          </a:solidFill>
          <a:ln w="19050">
            <a:solidFill>
              <a:srgbClr val="2F77D1"/>
            </a:solidFill>
            <a:prstDash val="solid"/>
          </a:ln>
        </p:spPr>
      </p:sp>
      <p:sp>
        <p:nvSpPr>
          <p:cNvPr id="20" name="Text 18"/>
          <p:cNvSpPr/>
          <p:nvPr/>
        </p:nvSpPr>
        <p:spPr>
          <a:xfrm>
            <a:off x="6492240" y="2743200"/>
            <a:ext cx="2560320" cy="502920"/>
          </a:xfrm>
          <a:prstGeom prst="rect">
            <a:avLst/>
          </a:prstGeom>
          <a:noFill/>
          <a:ln/>
        </p:spPr>
        <p:txBody>
          <a:bodyPr wrap="square" lIns="0" tIns="0" rIns="0" bIns="0" rtlCol="0" anchor="ctr"/>
          <a:lstStyle/>
          <a:p>
            <a:pPr indent="0" marL="0">
              <a:buNone/>
            </a:pPr>
            <a:r>
              <a:rPr lang="en-US" sz="2600" b="1" dirty="0">
                <a:solidFill>
                  <a:srgbClr val="2F77D1"/>
                </a:solidFill>
                <a:latin typeface="Caveat" pitchFamily="34" charset="0"/>
                <a:ea typeface="Caveat" pitchFamily="34" charset="-122"/>
                <a:cs typeface="Caveat" pitchFamily="34" charset="-120"/>
              </a:rPr>
              <a:t>AgntID runtime</a:t>
            </a:r>
            <a:endParaRPr lang="en-US" sz="2600" dirty="0"/>
          </a:p>
        </p:txBody>
      </p:sp>
      <p:sp>
        <p:nvSpPr>
          <p:cNvPr id="21" name="Text 19"/>
          <p:cNvSpPr/>
          <p:nvPr/>
        </p:nvSpPr>
        <p:spPr>
          <a:xfrm>
            <a:off x="6492240" y="3291840"/>
            <a:ext cx="2560320" cy="1645920"/>
          </a:xfrm>
          <a:prstGeom prst="rect">
            <a:avLst/>
          </a:prstGeom>
          <a:noFill/>
          <a:ln/>
        </p:spPr>
        <p:txBody>
          <a:bodyPr wrap="square" lIns="0" tIns="0" rIns="0" bIns="0" rtlCol="0" anchor="t"/>
          <a:lstStyle/>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guard → intent → policy</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 creds → execute</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badge = delegation allowlist</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every decision audited</a:t>
            </a:r>
            <a:endParaRPr lang="en-US" sz="1300" dirty="0"/>
          </a:p>
        </p:txBody>
      </p:sp>
      <p:sp>
        <p:nvSpPr>
          <p:cNvPr id="22" name="Shape 20"/>
          <p:cNvSpPr/>
          <p:nvPr/>
        </p:nvSpPr>
        <p:spPr>
          <a:xfrm>
            <a:off x="9674352" y="2724912"/>
            <a:ext cx="2057400" cy="2377440"/>
          </a:xfrm>
          <a:prstGeom prst="rect">
            <a:avLst/>
          </a:prstGeom>
          <a:solidFill>
            <a:srgbClr val="7C5F16">
              <a:alpha val="12000"/>
            </a:srgbClr>
          </a:solidFill>
          <a:ln w="12700">
            <a:solidFill>
              <a:srgbClr val="F7F8F3">
                <a:alpha val="0"/>
              </a:srgbClr>
            </a:solidFill>
            <a:prstDash val="solid"/>
          </a:ln>
        </p:spPr>
      </p:sp>
      <p:sp>
        <p:nvSpPr>
          <p:cNvPr id="23" name="Shape 21"/>
          <p:cNvSpPr/>
          <p:nvPr/>
        </p:nvSpPr>
        <p:spPr>
          <a:xfrm>
            <a:off x="9601200" y="2651760"/>
            <a:ext cx="2057400" cy="2377440"/>
          </a:xfrm>
          <a:prstGeom prst="rect">
            <a:avLst/>
          </a:prstGeom>
          <a:solidFill>
            <a:srgbClr val="FFFFFF"/>
          </a:solidFill>
          <a:ln w="19050">
            <a:solidFill>
              <a:srgbClr val="469274"/>
            </a:solidFill>
            <a:prstDash val="solid"/>
          </a:ln>
        </p:spPr>
      </p:sp>
      <p:sp>
        <p:nvSpPr>
          <p:cNvPr id="24" name="Text 22"/>
          <p:cNvSpPr/>
          <p:nvPr/>
        </p:nvSpPr>
        <p:spPr>
          <a:xfrm>
            <a:off x="9784080" y="2743200"/>
            <a:ext cx="1691640" cy="502920"/>
          </a:xfrm>
          <a:prstGeom prst="rect">
            <a:avLst/>
          </a:prstGeom>
          <a:noFill/>
          <a:ln/>
        </p:spPr>
        <p:txBody>
          <a:bodyPr wrap="square" lIns="0" tIns="0" rIns="0" bIns="0" rtlCol="0" anchor="ctr"/>
          <a:lstStyle/>
          <a:p>
            <a:pPr indent="0" marL="0">
              <a:buNone/>
            </a:pPr>
            <a:r>
              <a:rPr lang="en-US" sz="2600" b="1" dirty="0">
                <a:solidFill>
                  <a:srgbClr val="469274"/>
                </a:solidFill>
                <a:latin typeface="Caveat" pitchFamily="34" charset="0"/>
                <a:ea typeface="Caveat" pitchFamily="34" charset="-122"/>
                <a:cs typeface="Caveat" pitchFamily="34" charset="-120"/>
              </a:rPr>
              <a:t>tools</a:t>
            </a:r>
            <a:endParaRPr lang="en-US" sz="2600" dirty="0"/>
          </a:p>
        </p:txBody>
      </p:sp>
      <p:sp>
        <p:nvSpPr>
          <p:cNvPr id="25" name="Text 23"/>
          <p:cNvSpPr/>
          <p:nvPr/>
        </p:nvSpPr>
        <p:spPr>
          <a:xfrm>
            <a:off x="9784080" y="3291840"/>
            <a:ext cx="1691640" cy="1645920"/>
          </a:xfrm>
          <a:prstGeom prst="rect">
            <a:avLst/>
          </a:prstGeom>
          <a:noFill/>
          <a:ln/>
        </p:spPr>
        <p:txBody>
          <a:bodyPr wrap="square" lIns="0" tIns="0" rIns="0" bIns="0" rtlCol="0" anchor="t"/>
          <a:lstStyle/>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Supabase</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Notion</a:t>
            </a:r>
            <a:endParaRPr lang="en-US" sz="1300" dirty="0"/>
          </a:p>
          <a:p>
            <a:pPr indent="0" marL="0">
              <a:spcAft>
                <a:spcPts val="400"/>
              </a:spcAft>
              <a:buNone/>
            </a:pPr>
            <a:r>
              <a:rPr lang="en-US" sz="1300" dirty="0">
                <a:solidFill>
                  <a:srgbClr val="162122"/>
                </a:solidFill>
                <a:latin typeface="Manrope" pitchFamily="34" charset="0"/>
                <a:ea typeface="Manrope" pitchFamily="34" charset="-122"/>
                <a:cs typeface="Manrope" pitchFamily="34" charset="-120"/>
              </a:rPr>
              <a:t>Meeting MCP</a:t>
            </a:r>
            <a:endParaRPr lang="en-US" sz="1300" dirty="0"/>
          </a:p>
        </p:txBody>
      </p:sp>
      <p:sp>
        <p:nvSpPr>
          <p:cNvPr id="26" name="Text 24"/>
          <p:cNvSpPr/>
          <p:nvPr/>
        </p:nvSpPr>
        <p:spPr>
          <a:xfrm>
            <a:off x="2971800" y="3520440"/>
            <a:ext cx="365760" cy="548640"/>
          </a:xfrm>
          <a:prstGeom prst="rect">
            <a:avLst/>
          </a:prstGeom>
          <a:noFill/>
          <a:ln/>
        </p:spPr>
        <p:txBody>
          <a:bodyPr wrap="square" lIns="0" tIns="0" rIns="0" bIns="0" rtlCol="0" anchor="ctr"/>
          <a:lstStyle/>
          <a:p>
            <a:pPr algn="ctr" indent="0" marL="0">
              <a:buNone/>
            </a:pPr>
            <a:r>
              <a:rPr lang="en-US" sz="2800" b="1" dirty="0">
                <a:solidFill>
                  <a:srgbClr val="D96D3C"/>
                </a:solidFill>
                <a:latin typeface="Manrope" pitchFamily="34" charset="0"/>
                <a:ea typeface="Manrope" pitchFamily="34" charset="-122"/>
                <a:cs typeface="Manrope" pitchFamily="34" charset="-120"/>
              </a:rPr>
              <a:t>→</a:t>
            </a:r>
            <a:endParaRPr lang="en-US" sz="2800" dirty="0"/>
          </a:p>
        </p:txBody>
      </p:sp>
      <p:sp>
        <p:nvSpPr>
          <p:cNvPr id="27" name="Text 25"/>
          <p:cNvSpPr/>
          <p:nvPr/>
        </p:nvSpPr>
        <p:spPr>
          <a:xfrm>
            <a:off x="5989320" y="3520440"/>
            <a:ext cx="365760" cy="548640"/>
          </a:xfrm>
          <a:prstGeom prst="rect">
            <a:avLst/>
          </a:prstGeom>
          <a:noFill/>
          <a:ln/>
        </p:spPr>
        <p:txBody>
          <a:bodyPr wrap="square" lIns="0" tIns="0" rIns="0" bIns="0" rtlCol="0" anchor="ctr"/>
          <a:lstStyle/>
          <a:p>
            <a:pPr algn="ctr" indent="0" marL="0">
              <a:buNone/>
            </a:pPr>
            <a:r>
              <a:rPr lang="en-US" sz="2800" b="1" dirty="0">
                <a:solidFill>
                  <a:srgbClr val="D96D3C"/>
                </a:solidFill>
                <a:latin typeface="Manrope" pitchFamily="34" charset="0"/>
                <a:ea typeface="Manrope" pitchFamily="34" charset="-122"/>
                <a:cs typeface="Manrope" pitchFamily="34" charset="-120"/>
              </a:rPr>
              <a:t>→</a:t>
            </a:r>
            <a:endParaRPr lang="en-US" sz="2800" dirty="0"/>
          </a:p>
        </p:txBody>
      </p:sp>
      <p:sp>
        <p:nvSpPr>
          <p:cNvPr id="28" name="Text 26"/>
          <p:cNvSpPr/>
          <p:nvPr/>
        </p:nvSpPr>
        <p:spPr>
          <a:xfrm>
            <a:off x="9281160" y="3520440"/>
            <a:ext cx="365760" cy="548640"/>
          </a:xfrm>
          <a:prstGeom prst="rect">
            <a:avLst/>
          </a:prstGeom>
          <a:noFill/>
          <a:ln/>
        </p:spPr>
        <p:txBody>
          <a:bodyPr wrap="square" lIns="0" tIns="0" rIns="0" bIns="0" rtlCol="0" anchor="ctr"/>
          <a:lstStyle/>
          <a:p>
            <a:pPr algn="ctr" indent="0" marL="0">
              <a:buNone/>
            </a:pPr>
            <a:r>
              <a:rPr lang="en-US" sz="2800" b="1" dirty="0">
                <a:solidFill>
                  <a:srgbClr val="D96D3C"/>
                </a:solidFill>
                <a:latin typeface="Manrope" pitchFamily="34" charset="0"/>
                <a:ea typeface="Manrope" pitchFamily="34" charset="-122"/>
                <a:cs typeface="Manrope" pitchFamily="34" charset="-120"/>
              </a:rPr>
              <a:t>→</a:t>
            </a:r>
            <a:endParaRPr lang="en-US" sz="2800" dirty="0"/>
          </a:p>
        </p:txBody>
      </p:sp>
      <p:sp>
        <p:nvSpPr>
          <p:cNvPr id="29" name="Text 27"/>
          <p:cNvSpPr/>
          <p:nvPr/>
        </p:nvSpPr>
        <p:spPr>
          <a:xfrm>
            <a:off x="548640" y="5440680"/>
            <a:ext cx="11064240" cy="640080"/>
          </a:xfrm>
          <a:prstGeom prst="rect">
            <a:avLst/>
          </a:prstGeom>
          <a:noFill/>
          <a:ln/>
        </p:spPr>
        <p:txBody>
          <a:bodyPr wrap="square" lIns="0" tIns="0" rIns="0" bIns="0" rtlCol="0" anchor="ctr"/>
          <a:lstStyle/>
          <a:p>
            <a:pPr indent="0" marL="0">
              <a:buNone/>
            </a:pPr>
            <a:r>
              <a:rPr lang="en-US" sz="3200" b="1" dirty="0">
                <a:solidFill>
                  <a:srgbClr val="D96D3C"/>
                </a:solidFill>
                <a:latin typeface="Caveat" pitchFamily="34" charset="0"/>
                <a:ea typeface="Caveat" pitchFamily="34" charset="-122"/>
                <a:cs typeface="Caveat" pitchFamily="34" charset="-120"/>
              </a:rPr>
              <a:t>No code change to the agent. Just policy.</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0" y="0"/>
            <a:ext cx="12191695" cy="6858000"/>
          </a:xfrm>
          <a:prstGeom prst="rect">
            <a:avLst/>
          </a:prstGeom>
          <a:noFill/>
          <a:ln/>
        </p:spPr>
        <p:txBody>
          <a:bodyPr wrap="square" lIns="0" tIns="0" rIns="0" bIns="0" rtlCol="0" anchor="t"/>
          <a:lstStyle/>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p:txBody>
      </p:sp>
      <p:sp>
        <p:nvSpPr>
          <p:cNvPr id="3" name="Text 1"/>
          <p:cNvSpPr/>
          <p:nvPr/>
        </p:nvSpPr>
        <p:spPr>
          <a:xfrm>
            <a:off x="502920" y="164592"/>
            <a:ext cx="2743200" cy="411480"/>
          </a:xfrm>
          <a:prstGeom prst="rect">
            <a:avLst/>
          </a:prstGeom>
          <a:noFill/>
          <a:ln/>
        </p:spPr>
        <p:txBody>
          <a:bodyPr wrap="square" lIns="0" tIns="0" rIns="0" bIns="0" rtlCol="0" anchor="ctr"/>
          <a:lstStyle/>
          <a:p>
            <a:pPr indent="0" marL="0">
              <a:buNone/>
            </a:pPr>
            <a:r>
              <a:rPr lang="en-US" sz="2200" b="1" dirty="0">
                <a:solidFill>
                  <a:srgbClr val="31413D"/>
                </a:solidFill>
                <a:latin typeface="Caveat" pitchFamily="34" charset="0"/>
                <a:ea typeface="Caveat" pitchFamily="34" charset="-122"/>
                <a:cs typeface="Caveat" pitchFamily="34" charset="-120"/>
              </a:rPr>
              <a:t>Mohammed Razak</a:t>
            </a:r>
            <a:endParaRPr lang="en-US" sz="2200" dirty="0"/>
          </a:p>
        </p:txBody>
      </p:sp>
      <p:sp>
        <p:nvSpPr>
          <p:cNvPr id="4" name="Text 2"/>
          <p:cNvSpPr/>
          <p:nvPr/>
        </p:nvSpPr>
        <p:spPr>
          <a:xfrm>
            <a:off x="4754880" y="164592"/>
            <a:ext cx="6933895" cy="411480"/>
          </a:xfrm>
          <a:prstGeom prst="rect">
            <a:avLst/>
          </a:prstGeom>
          <a:noFill/>
          <a:ln/>
        </p:spPr>
        <p:txBody>
          <a:bodyPr wrap="square" lIns="0" tIns="0" rIns="0" bIns="0" rtlCol="0" anchor="ctr"/>
          <a:lstStyle/>
          <a:p>
            <a:pPr algn="r" indent="0" marL="0">
              <a:buNone/>
            </a:pPr>
            <a:r>
              <a:rPr lang="en-US" sz="900" dirty="0">
                <a:solidFill>
                  <a:srgbClr val="6F7B78"/>
                </a:solidFill>
                <a:latin typeface="DM Mono" pitchFamily="34" charset="0"/>
                <a:ea typeface="DM Mono" pitchFamily="34" charset="-122"/>
                <a:cs typeface="DM Mono" pitchFamily="34" charset="-120"/>
              </a:rPr>
              <a:t>01 the breach     </a:t>
            </a:r>
            <a:pPr algn="r" indent="0" marL="0">
              <a:buNone/>
            </a:pPr>
            <a:r>
              <a:rPr lang="en-US" sz="900" dirty="0">
                <a:solidFill>
                  <a:srgbClr val="6F7B78"/>
                </a:solidFill>
                <a:latin typeface="DM Mono" pitchFamily="34" charset="0"/>
                <a:ea typeface="DM Mono" pitchFamily="34" charset="-122"/>
                <a:cs typeface="DM Mono" pitchFamily="34" charset="-120"/>
              </a:rPr>
              <a:t>02 why     </a:t>
            </a:r>
            <a:pPr algn="r" indent="0" marL="0">
              <a:buNone/>
            </a:pPr>
            <a:r>
              <a:rPr lang="en-US" sz="900" dirty="0">
                <a:solidFill>
                  <a:srgbClr val="6F7B78"/>
                </a:solidFill>
                <a:latin typeface="DM Mono" pitchFamily="34" charset="0"/>
                <a:ea typeface="DM Mono" pitchFamily="34" charset="-122"/>
                <a:cs typeface="DM Mono" pitchFamily="34" charset="-120"/>
              </a:rPr>
              <a:t>03 badge     </a:t>
            </a:r>
            <a:pPr algn="r" indent="0" marL="0">
              <a:buNone/>
            </a:pPr>
            <a:r>
              <a:rPr lang="en-US" sz="900" b="1" dirty="0">
                <a:solidFill>
                  <a:srgbClr val="2F77D1"/>
                </a:solidFill>
                <a:latin typeface="DM Mono" pitchFamily="34" charset="0"/>
                <a:ea typeface="DM Mono" pitchFamily="34" charset="-122"/>
                <a:cs typeface="DM Mono" pitchFamily="34" charset="-120"/>
              </a:rPr>
              <a:t>04 demo     </a:t>
            </a:r>
            <a:pPr algn="r" indent="0" marL="0">
              <a:buNone/>
            </a:pPr>
            <a:r>
              <a:rPr lang="en-US" sz="900" dirty="0">
                <a:solidFill>
                  <a:srgbClr val="6F7B78"/>
                </a:solidFill>
                <a:latin typeface="DM Mono" pitchFamily="34" charset="0"/>
                <a:ea typeface="DM Mono" pitchFamily="34" charset="-122"/>
                <a:cs typeface="DM Mono" pitchFamily="34" charset="-120"/>
              </a:rPr>
              <a:t>05 next</a:t>
            </a:r>
            <a:endParaRPr lang="en-US" sz="900" dirty="0"/>
          </a:p>
        </p:txBody>
      </p:sp>
      <p:sp>
        <p:nvSpPr>
          <p:cNvPr id="5" name="Shape 3"/>
          <p:cNvSpPr/>
          <p:nvPr/>
        </p:nvSpPr>
        <p:spPr>
          <a:xfrm>
            <a:off x="502920" y="621792"/>
            <a:ext cx="11185855" cy="0"/>
          </a:xfrm>
          <a:prstGeom prst="line">
            <a:avLst/>
          </a:prstGeom>
          <a:noFill/>
          <a:ln w="12700">
            <a:solidFill>
              <a:srgbClr val="DFE4DC"/>
            </a:solidFill>
            <a:prstDash val="solid"/>
          </a:ln>
        </p:spPr>
      </p:sp>
      <p:sp>
        <p:nvSpPr>
          <p:cNvPr id="6" name="Shape 4"/>
          <p:cNvSpPr/>
          <p:nvPr/>
        </p:nvSpPr>
        <p:spPr>
          <a:xfrm rot="-60000">
            <a:off x="641822" y="1059093"/>
            <a:ext cx="5669280" cy="3529584"/>
          </a:xfrm>
          <a:prstGeom prst="rect">
            <a:avLst/>
          </a:prstGeom>
          <a:solidFill>
            <a:srgbClr val="7C5F16">
              <a:alpha val="14000"/>
            </a:srgbClr>
          </a:solidFill>
          <a:ln w="12700">
            <a:solidFill>
              <a:srgbClr val="F7F8F3">
                <a:alpha val="0"/>
              </a:srgbClr>
            </a:solidFill>
            <a:prstDash val="solid"/>
          </a:ln>
        </p:spPr>
      </p:sp>
      <p:pic>
        <p:nvPicPr>
          <p:cNvPr id="7" name="Image 0" descr="img/firm.png">    </p:cNvPr>
          <p:cNvPicPr>
            <a:picLocks noChangeAspect="1"/>
          </p:cNvPicPr>
          <p:nvPr/>
        </p:nvPicPr>
        <p:blipFill>
          <a:blip r:embed="rId1"/>
          <a:srcRect l="0" r="0" t="0" b="0"/>
          <a:stretch/>
        </p:blipFill>
        <p:spPr>
          <a:xfrm rot="-60000">
            <a:off x="545767" y="960145"/>
            <a:ext cx="5669280" cy="3200400"/>
          </a:xfrm>
          <a:prstGeom prst="rect">
            <a:avLst/>
          </a:prstGeom>
        </p:spPr>
      </p:pic>
      <p:sp>
        <p:nvSpPr>
          <p:cNvPr id="8" name="Text 5"/>
          <p:cNvSpPr/>
          <p:nvPr/>
        </p:nvSpPr>
        <p:spPr>
          <a:xfrm rot="-60000">
            <a:off x="576567" y="4160276"/>
            <a:ext cx="5669280" cy="329184"/>
          </a:xfrm>
          <a:prstGeom prst="rect">
            <a:avLst/>
          </a:prstGeom>
          <a:solidFill>
            <a:srgbClr val="F7DFA0"/>
          </a:solidFill>
          <a:ln w="9525">
            <a:solidFill>
              <a:srgbClr val="342A0C">
                <a:alpha val="40000"/>
              </a:srgbClr>
            </a:solidFill>
          </a:ln>
        </p:spPr>
        <p:txBody>
          <a:bodyPr wrap="square" lIns="127000" tIns="25400" rIns="25400" bIns="127000" rtlCol="0" anchor="ctr"/>
          <a:lstStyle/>
          <a:p>
            <a:pPr indent="0" marL="0">
              <a:buNone/>
            </a:pPr>
            <a:r>
              <a:rPr lang="en-US" sz="900" dirty="0">
                <a:solidFill>
                  <a:srgbClr val="5D4B15"/>
                </a:solidFill>
                <a:latin typeface="DM Mono" pitchFamily="34" charset="0"/>
                <a:ea typeface="DM Mono" pitchFamily="34" charset="-122"/>
                <a:cs typeface="DM Mono" pitchFamily="34" charset="-120"/>
              </a:rPr>
              <a:t>MIRA BLOCKED · ARUN ALLOWED · REAL SUPABASE</a:t>
            </a:r>
            <a:endParaRPr lang="en-US" sz="900" dirty="0"/>
          </a:p>
        </p:txBody>
      </p:sp>
      <p:sp>
        <p:nvSpPr>
          <p:cNvPr id="9" name="Shape 6"/>
          <p:cNvSpPr/>
          <p:nvPr/>
        </p:nvSpPr>
        <p:spPr>
          <a:xfrm rot="72000">
            <a:off x="6078633" y="1245477"/>
            <a:ext cx="5669280" cy="3529584"/>
          </a:xfrm>
          <a:prstGeom prst="rect">
            <a:avLst/>
          </a:prstGeom>
          <a:solidFill>
            <a:srgbClr val="7C5F16">
              <a:alpha val="14000"/>
            </a:srgbClr>
          </a:solidFill>
          <a:ln w="12700">
            <a:solidFill>
              <a:srgbClr val="F7F8F3">
                <a:alpha val="0"/>
              </a:srgbClr>
            </a:solidFill>
            <a:prstDash val="solid"/>
          </a:ln>
        </p:spPr>
      </p:sp>
      <p:pic>
        <p:nvPicPr>
          <p:cNvPr id="10" name="Image 1" descr="img/meeting.png">    </p:cNvPr>
          <p:cNvPicPr>
            <a:picLocks noChangeAspect="1"/>
          </p:cNvPicPr>
          <p:nvPr/>
        </p:nvPicPr>
        <p:blipFill>
          <a:blip r:embed="rId2"/>
          <a:srcRect l="0" r="0" t="0" b="0"/>
          <a:stretch/>
        </p:blipFill>
        <p:spPr>
          <a:xfrm rot="72000">
            <a:off x="5992767" y="1143036"/>
            <a:ext cx="5669280" cy="3200400"/>
          </a:xfrm>
          <a:prstGeom prst="rect">
            <a:avLst/>
          </a:prstGeom>
        </p:spPr>
      </p:pic>
      <p:sp>
        <p:nvSpPr>
          <p:cNvPr id="11" name="Text 7"/>
          <p:cNvSpPr/>
          <p:nvPr/>
        </p:nvSpPr>
        <p:spPr>
          <a:xfrm rot="72000">
            <a:off x="5955808" y="4343049"/>
            <a:ext cx="5669280" cy="329184"/>
          </a:xfrm>
          <a:prstGeom prst="rect">
            <a:avLst/>
          </a:prstGeom>
          <a:solidFill>
            <a:srgbClr val="F7DFA0"/>
          </a:solidFill>
          <a:ln w="9525">
            <a:solidFill>
              <a:srgbClr val="342A0C">
                <a:alpha val="40000"/>
              </a:srgbClr>
            </a:solidFill>
          </a:ln>
        </p:spPr>
        <p:txBody>
          <a:bodyPr wrap="square" lIns="127000" tIns="25400" rIns="25400" bIns="127000" rtlCol="0" anchor="ctr"/>
          <a:lstStyle/>
          <a:p>
            <a:pPr indent="0" marL="0">
              <a:buNone/>
            </a:pPr>
            <a:r>
              <a:rPr lang="en-US" sz="900" dirty="0">
                <a:solidFill>
                  <a:srgbClr val="5D4B15"/>
                </a:solidFill>
                <a:latin typeface="DM Mono" pitchFamily="34" charset="0"/>
                <a:ea typeface="DM Mono" pitchFamily="34" charset="-122"/>
                <a:cs typeface="DM Mono" pitchFamily="34" charset="-120"/>
              </a:rPr>
              <a:t>LIVE MEETING · EACH AGENT HEARS ITS PART</a:t>
            </a:r>
            <a:endParaRPr lang="en-US" sz="900" dirty="0"/>
          </a:p>
        </p:txBody>
      </p:sp>
      <p:sp>
        <p:nvSpPr>
          <p:cNvPr id="12" name="Text 8"/>
          <p:cNvSpPr/>
          <p:nvPr/>
        </p:nvSpPr>
        <p:spPr>
          <a:xfrm>
            <a:off x="548640" y="4892040"/>
            <a:ext cx="2103120" cy="27432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01</a:t>
            </a:r>
            <a:endParaRPr lang="en-US" sz="1000" dirty="0"/>
          </a:p>
        </p:txBody>
      </p:sp>
      <p:sp>
        <p:nvSpPr>
          <p:cNvPr id="13" name="Text 9"/>
          <p:cNvSpPr/>
          <p:nvPr/>
        </p:nvSpPr>
        <p:spPr>
          <a:xfrm>
            <a:off x="548640" y="5138928"/>
            <a:ext cx="2148840" cy="457200"/>
          </a:xfrm>
          <a:prstGeom prst="rect">
            <a:avLst/>
          </a:prstGeom>
          <a:noFill/>
          <a:ln/>
        </p:spPr>
        <p:txBody>
          <a:bodyPr wrap="square" lIns="0" tIns="0" rIns="0" bIns="0" rtlCol="0" anchor="t"/>
          <a:lstStyle/>
          <a:p>
            <a:pPr indent="0" marL="0">
              <a:buNone/>
            </a:pPr>
            <a:r>
              <a:rPr lang="en-US" sz="2200" b="1" dirty="0">
                <a:solidFill>
                  <a:srgbClr val="21221C"/>
                </a:solidFill>
                <a:latin typeface="Caveat" pitchFamily="34" charset="0"/>
                <a:ea typeface="Caveat" pitchFamily="34" charset="-122"/>
                <a:cs typeface="Caveat" pitchFamily="34" charset="-120"/>
              </a:rPr>
              <a:t>Mira asks the DB</a:t>
            </a:r>
            <a:endParaRPr lang="en-US" sz="2200" dirty="0"/>
          </a:p>
        </p:txBody>
      </p:sp>
      <p:sp>
        <p:nvSpPr>
          <p:cNvPr id="14" name="Text 10"/>
          <p:cNvSpPr/>
          <p:nvPr/>
        </p:nvSpPr>
        <p:spPr>
          <a:xfrm>
            <a:off x="548640" y="5596128"/>
            <a:ext cx="2148840" cy="457200"/>
          </a:xfrm>
          <a:prstGeom prst="rect">
            <a:avLst/>
          </a:prstGeom>
          <a:noFill/>
          <a:ln/>
        </p:spPr>
        <p:txBody>
          <a:bodyPr wrap="square" lIns="0" tIns="0" rIns="0" bIns="0" rtlCol="0" anchor="t"/>
          <a:lstStyle/>
          <a:p>
            <a:pPr indent="0" marL="0">
              <a:buNone/>
            </a:pPr>
            <a:r>
              <a:rPr lang="en-US" sz="1200" b="1" dirty="0">
                <a:solidFill>
                  <a:srgbClr val="D96D3C"/>
                </a:solidFill>
                <a:latin typeface="Manrope" pitchFamily="34" charset="0"/>
                <a:ea typeface="Manrope" pitchFamily="34" charset="-122"/>
                <a:cs typeface="Manrope" pitchFamily="34" charset="-120"/>
              </a:rPr>
              <a:t>BLOCKED: not on her badge</a:t>
            </a:r>
            <a:endParaRPr lang="en-US" sz="1200" dirty="0"/>
          </a:p>
        </p:txBody>
      </p:sp>
      <p:sp>
        <p:nvSpPr>
          <p:cNvPr id="15" name="Text 11"/>
          <p:cNvSpPr/>
          <p:nvPr/>
        </p:nvSpPr>
        <p:spPr>
          <a:xfrm>
            <a:off x="2816352" y="4892040"/>
            <a:ext cx="2103120" cy="27432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02</a:t>
            </a:r>
            <a:endParaRPr lang="en-US" sz="1000" dirty="0"/>
          </a:p>
        </p:txBody>
      </p:sp>
      <p:sp>
        <p:nvSpPr>
          <p:cNvPr id="16" name="Text 12"/>
          <p:cNvSpPr/>
          <p:nvPr/>
        </p:nvSpPr>
        <p:spPr>
          <a:xfrm>
            <a:off x="2816352" y="5138928"/>
            <a:ext cx="2148840" cy="457200"/>
          </a:xfrm>
          <a:prstGeom prst="rect">
            <a:avLst/>
          </a:prstGeom>
          <a:noFill/>
          <a:ln/>
        </p:spPr>
        <p:txBody>
          <a:bodyPr wrap="square" lIns="0" tIns="0" rIns="0" bIns="0" rtlCol="0" anchor="t"/>
          <a:lstStyle/>
          <a:p>
            <a:pPr indent="0" marL="0">
              <a:buNone/>
            </a:pPr>
            <a:r>
              <a:rPr lang="en-US" sz="2200" b="1" dirty="0">
                <a:solidFill>
                  <a:srgbClr val="21221C"/>
                </a:solidFill>
                <a:latin typeface="Caveat" pitchFamily="34" charset="0"/>
                <a:ea typeface="Caveat" pitchFamily="34" charset="-122"/>
                <a:cs typeface="Caveat" pitchFamily="34" charset="-120"/>
              </a:rPr>
              <a:t>Hands off to Arun</a:t>
            </a:r>
            <a:endParaRPr lang="en-US" sz="2200" dirty="0"/>
          </a:p>
        </p:txBody>
      </p:sp>
      <p:sp>
        <p:nvSpPr>
          <p:cNvPr id="17" name="Text 13"/>
          <p:cNvSpPr/>
          <p:nvPr/>
        </p:nvSpPr>
        <p:spPr>
          <a:xfrm>
            <a:off x="2816352" y="5596128"/>
            <a:ext cx="2148840" cy="457200"/>
          </a:xfrm>
          <a:prstGeom prst="rect">
            <a:avLst/>
          </a:prstGeom>
          <a:noFill/>
          <a:ln/>
        </p:spPr>
        <p:txBody>
          <a:bodyPr wrap="square" lIns="0" tIns="0" rIns="0" bIns="0" rtlCol="0" anchor="t"/>
          <a:lstStyle/>
          <a:p>
            <a:pPr indent="0" marL="0">
              <a:buNone/>
            </a:pPr>
            <a:r>
              <a:rPr lang="en-US" sz="1200" b="1" dirty="0">
                <a:solidFill>
                  <a:srgbClr val="469274"/>
                </a:solidFill>
                <a:latin typeface="Manrope" pitchFamily="34" charset="0"/>
                <a:ea typeface="Manrope" pitchFamily="34" charset="-122"/>
                <a:cs typeface="Manrope" pitchFamily="34" charset="-120"/>
              </a:rPr>
              <a:t>ALLOWED: real numbers</a:t>
            </a:r>
            <a:endParaRPr lang="en-US" sz="1200" dirty="0"/>
          </a:p>
        </p:txBody>
      </p:sp>
      <p:sp>
        <p:nvSpPr>
          <p:cNvPr id="18" name="Text 14"/>
          <p:cNvSpPr/>
          <p:nvPr/>
        </p:nvSpPr>
        <p:spPr>
          <a:xfrm>
            <a:off x="5084064" y="4892040"/>
            <a:ext cx="2103120" cy="27432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03</a:t>
            </a:r>
            <a:endParaRPr lang="en-US" sz="1000" dirty="0"/>
          </a:p>
        </p:txBody>
      </p:sp>
      <p:sp>
        <p:nvSpPr>
          <p:cNvPr id="19" name="Text 15"/>
          <p:cNvSpPr/>
          <p:nvPr/>
        </p:nvSpPr>
        <p:spPr>
          <a:xfrm>
            <a:off x="5084064" y="5138928"/>
            <a:ext cx="2148840" cy="457200"/>
          </a:xfrm>
          <a:prstGeom prst="rect">
            <a:avLst/>
          </a:prstGeom>
          <a:noFill/>
          <a:ln/>
        </p:spPr>
        <p:txBody>
          <a:bodyPr wrap="square" lIns="0" tIns="0" rIns="0" bIns="0" rtlCol="0" anchor="t"/>
          <a:lstStyle/>
          <a:p>
            <a:pPr indent="0" marL="0">
              <a:buNone/>
            </a:pPr>
            <a:r>
              <a:rPr lang="en-US" sz="2200" b="1" dirty="0">
                <a:solidFill>
                  <a:srgbClr val="21221C"/>
                </a:solidFill>
                <a:latin typeface="Caveat" pitchFamily="34" charset="0"/>
                <a:ea typeface="Caveat" pitchFamily="34" charset="-122"/>
                <a:cs typeface="Caveat" pitchFamily="34" charset="-120"/>
              </a:rPr>
              <a:t>Publishes to Notion</a:t>
            </a:r>
            <a:endParaRPr lang="en-US" sz="2200" dirty="0"/>
          </a:p>
        </p:txBody>
      </p:sp>
      <p:sp>
        <p:nvSpPr>
          <p:cNvPr id="20" name="Text 16"/>
          <p:cNvSpPr/>
          <p:nvPr/>
        </p:nvSpPr>
        <p:spPr>
          <a:xfrm>
            <a:off x="5084064" y="5596128"/>
            <a:ext cx="2148840" cy="457200"/>
          </a:xfrm>
          <a:prstGeom prst="rect">
            <a:avLst/>
          </a:prstGeom>
          <a:noFill/>
          <a:ln/>
        </p:spPr>
        <p:txBody>
          <a:bodyPr wrap="square" lIns="0" tIns="0" rIns="0" bIns="0" rtlCol="0" anchor="t"/>
          <a:lstStyle/>
          <a:p>
            <a:pPr indent="0" marL="0">
              <a:buNone/>
            </a:pPr>
            <a:r>
              <a:rPr lang="en-US" sz="1200" b="1" dirty="0">
                <a:solidFill>
                  <a:srgbClr val="469274"/>
                </a:solidFill>
                <a:latin typeface="Manrope" pitchFamily="34" charset="0"/>
                <a:ea typeface="Manrope" pitchFamily="34" charset="-122"/>
                <a:cs typeface="Manrope" pitchFamily="34" charset="-120"/>
              </a:rPr>
              <a:t>ALLOWED: open the page</a:t>
            </a:r>
            <a:endParaRPr lang="en-US" sz="1200" dirty="0"/>
          </a:p>
        </p:txBody>
      </p:sp>
      <p:sp>
        <p:nvSpPr>
          <p:cNvPr id="21" name="Text 17"/>
          <p:cNvSpPr/>
          <p:nvPr/>
        </p:nvSpPr>
        <p:spPr>
          <a:xfrm>
            <a:off x="7351776" y="4892040"/>
            <a:ext cx="2103120" cy="27432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04</a:t>
            </a:r>
            <a:endParaRPr lang="en-US" sz="1000" dirty="0"/>
          </a:p>
        </p:txBody>
      </p:sp>
      <p:sp>
        <p:nvSpPr>
          <p:cNvPr id="22" name="Text 18"/>
          <p:cNvSpPr/>
          <p:nvPr/>
        </p:nvSpPr>
        <p:spPr>
          <a:xfrm>
            <a:off x="7351776" y="5138928"/>
            <a:ext cx="2148840" cy="457200"/>
          </a:xfrm>
          <a:prstGeom prst="rect">
            <a:avLst/>
          </a:prstGeom>
          <a:noFill/>
          <a:ln/>
        </p:spPr>
        <p:txBody>
          <a:bodyPr wrap="square" lIns="0" tIns="0" rIns="0" bIns="0" rtlCol="0" anchor="t"/>
          <a:lstStyle/>
          <a:p>
            <a:pPr indent="0" marL="0">
              <a:buNone/>
            </a:pPr>
            <a:r>
              <a:rPr lang="en-US" sz="2200" b="1" dirty="0">
                <a:solidFill>
                  <a:srgbClr val="21221C"/>
                </a:solidFill>
                <a:latin typeface="Caveat" pitchFamily="34" charset="0"/>
                <a:ea typeface="Caveat" pitchFamily="34" charset="-122"/>
                <a:cs typeface="Caveat" pitchFamily="34" charset="-120"/>
              </a:rPr>
              <a:t>Say it in a meeting</a:t>
            </a:r>
            <a:endParaRPr lang="en-US" sz="2200" dirty="0"/>
          </a:p>
        </p:txBody>
      </p:sp>
      <p:sp>
        <p:nvSpPr>
          <p:cNvPr id="23" name="Text 19"/>
          <p:cNvSpPr/>
          <p:nvPr/>
        </p:nvSpPr>
        <p:spPr>
          <a:xfrm>
            <a:off x="7351776" y="5596128"/>
            <a:ext cx="2148840" cy="457200"/>
          </a:xfrm>
          <a:prstGeom prst="rect">
            <a:avLst/>
          </a:prstGeom>
          <a:noFill/>
          <a:ln/>
        </p:spPr>
        <p:txBody>
          <a:bodyPr wrap="square" lIns="0" tIns="0" rIns="0" bIns="0" rtlCol="0" anchor="t"/>
          <a:lstStyle/>
          <a:p>
            <a:pPr indent="0" marL="0">
              <a:buNone/>
            </a:pPr>
            <a:r>
              <a:rPr lang="en-US" sz="1200" b="1" dirty="0">
                <a:solidFill>
                  <a:srgbClr val="469274"/>
                </a:solidFill>
                <a:latin typeface="Manrope" pitchFamily="34" charset="0"/>
                <a:ea typeface="Manrope" pitchFamily="34" charset="-122"/>
                <a:cs typeface="Manrope" pitchFamily="34" charset="-120"/>
              </a:rPr>
              <a:t>only the right agent hears</a:t>
            </a:r>
            <a:endParaRPr lang="en-US" sz="1200" dirty="0"/>
          </a:p>
        </p:txBody>
      </p:sp>
      <p:sp>
        <p:nvSpPr>
          <p:cNvPr id="24" name="Text 20"/>
          <p:cNvSpPr/>
          <p:nvPr/>
        </p:nvSpPr>
        <p:spPr>
          <a:xfrm>
            <a:off x="9619488" y="4892040"/>
            <a:ext cx="2103120" cy="274320"/>
          </a:xfrm>
          <a:prstGeom prst="rect">
            <a:avLst/>
          </a:prstGeom>
          <a:noFill/>
          <a:ln/>
        </p:spPr>
        <p:txBody>
          <a:bodyPr wrap="square" lIns="0" tIns="0" rIns="0" bIns="0" rtlCol="0" anchor="ctr"/>
          <a:lstStyle/>
          <a:p>
            <a:pPr indent="0" marL="0">
              <a:buNone/>
            </a:pPr>
            <a:r>
              <a:rPr lang="en-US" sz="1000" dirty="0">
                <a:solidFill>
                  <a:srgbClr val="85918E"/>
                </a:solidFill>
                <a:latin typeface="DM Mono" pitchFamily="34" charset="0"/>
                <a:ea typeface="DM Mono" pitchFamily="34" charset="-122"/>
                <a:cs typeface="DM Mono" pitchFamily="34" charset="-120"/>
              </a:rPr>
              <a:t>05</a:t>
            </a:r>
            <a:endParaRPr lang="en-US" sz="1000" dirty="0"/>
          </a:p>
        </p:txBody>
      </p:sp>
      <p:sp>
        <p:nvSpPr>
          <p:cNvPr id="25" name="Text 21"/>
          <p:cNvSpPr/>
          <p:nvPr/>
        </p:nvSpPr>
        <p:spPr>
          <a:xfrm>
            <a:off x="9619488" y="5138928"/>
            <a:ext cx="2148840" cy="457200"/>
          </a:xfrm>
          <a:prstGeom prst="rect">
            <a:avLst/>
          </a:prstGeom>
          <a:noFill/>
          <a:ln/>
        </p:spPr>
        <p:txBody>
          <a:bodyPr wrap="square" lIns="0" tIns="0" rIns="0" bIns="0" rtlCol="0" anchor="t"/>
          <a:lstStyle/>
          <a:p>
            <a:pPr indent="0" marL="0">
              <a:buNone/>
            </a:pPr>
            <a:r>
              <a:rPr lang="en-US" sz="2200" b="1" dirty="0">
                <a:solidFill>
                  <a:srgbClr val="21221C"/>
                </a:solidFill>
                <a:latin typeface="Caveat" pitchFamily="34" charset="0"/>
                <a:ea typeface="Caveat" pitchFamily="34" charset="-122"/>
                <a:cs typeface="Caveat" pitchFamily="34" charset="-120"/>
              </a:rPr>
              <a:t>Flip to bypass</a:t>
            </a:r>
            <a:endParaRPr lang="en-US" sz="2200" dirty="0"/>
          </a:p>
        </p:txBody>
      </p:sp>
      <p:sp>
        <p:nvSpPr>
          <p:cNvPr id="26" name="Text 22"/>
          <p:cNvSpPr/>
          <p:nvPr/>
        </p:nvSpPr>
        <p:spPr>
          <a:xfrm>
            <a:off x="9619488" y="5596128"/>
            <a:ext cx="2148840" cy="457200"/>
          </a:xfrm>
          <a:prstGeom prst="rect">
            <a:avLst/>
          </a:prstGeom>
          <a:noFill/>
          <a:ln/>
        </p:spPr>
        <p:txBody>
          <a:bodyPr wrap="square" lIns="0" tIns="0" rIns="0" bIns="0" rtlCol="0" anchor="t"/>
          <a:lstStyle/>
          <a:p>
            <a:pPr indent="0" marL="0">
              <a:buNone/>
            </a:pPr>
            <a:r>
              <a:rPr lang="en-US" sz="1200" b="1" dirty="0">
                <a:solidFill>
                  <a:srgbClr val="D96D3C"/>
                </a:solidFill>
                <a:latin typeface="Manrope" pitchFamily="34" charset="0"/>
                <a:ea typeface="Manrope" pitchFamily="34" charset="-122"/>
                <a:cs typeface="Manrope" pitchFamily="34" charset="-120"/>
              </a:rPr>
              <a:t>the CMO roams your DB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3"/>
        </a:solidFill>
      </p:bgPr>
    </p:bg>
    <p:spTree>
      <p:nvGrpSpPr>
        <p:cNvPr id="1" name=""/>
        <p:cNvGrpSpPr/>
        <p:nvPr/>
      </p:nvGrpSpPr>
      <p:grpSpPr>
        <a:xfrm>
          <a:off x="0" y="0"/>
          <a:ext cx="0" cy="0"/>
          <a:chOff x="0" y="0"/>
          <a:chExt cx="0" cy="0"/>
        </a:xfrm>
      </p:grpSpPr>
      <p:sp>
        <p:nvSpPr>
          <p:cNvPr id="2" name="Text 0"/>
          <p:cNvSpPr/>
          <p:nvPr/>
        </p:nvSpPr>
        <p:spPr>
          <a:xfrm>
            <a:off x="0" y="0"/>
            <a:ext cx="12191695" cy="6858000"/>
          </a:xfrm>
          <a:prstGeom prst="rect">
            <a:avLst/>
          </a:prstGeom>
          <a:noFill/>
          <a:ln/>
        </p:spPr>
        <p:txBody>
          <a:bodyPr wrap="square" lIns="0" tIns="0" rIns="0" bIns="0" rtlCol="0" anchor="t"/>
          <a:lstStyle/>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a:p>
            <a:pPr indent="0" marL="0">
              <a:lnSpc>
                <a:spcPts val="1580"/>
              </a:lnSpc>
              <a:buNone/>
            </a:pPr>
            <a:r>
              <a:rPr lang="en-US" sz="700" dirty="0">
                <a:solidFill>
                  <a:srgbClr val="E7EBE4"/>
                </a:solidFill>
                <a:latin typeface="DM Mono" pitchFamily="34" charset="0"/>
                <a:ea typeface="DM Mono" pitchFamily="34" charset="-122"/>
                <a:cs typeface="DM Mono" pitchFamily="34" charset="-120"/>
              </a:rPr>
              <a:t>.   .   :   .   .   ·   :   .   .   .   :   .   ·   .   ·   .   ·   :   .   :   .   :   .   .   .   .   .   .   ·   .   .   .   .   .   :   .   .   +   :   ·   :   .   .   .   .   ·   .   .   :   ·   ·   .   .   .   ·   .   .   </a:t>
            </a:r>
            <a:endParaRPr lang="en-US" sz="700" dirty="0"/>
          </a:p>
        </p:txBody>
      </p:sp>
      <p:sp>
        <p:nvSpPr>
          <p:cNvPr id="3" name="Text 1"/>
          <p:cNvSpPr/>
          <p:nvPr/>
        </p:nvSpPr>
        <p:spPr>
          <a:xfrm>
            <a:off x="502920" y="164592"/>
            <a:ext cx="2743200" cy="411480"/>
          </a:xfrm>
          <a:prstGeom prst="rect">
            <a:avLst/>
          </a:prstGeom>
          <a:noFill/>
          <a:ln/>
        </p:spPr>
        <p:txBody>
          <a:bodyPr wrap="square" lIns="0" tIns="0" rIns="0" bIns="0" rtlCol="0" anchor="ctr"/>
          <a:lstStyle/>
          <a:p>
            <a:pPr indent="0" marL="0">
              <a:buNone/>
            </a:pPr>
            <a:r>
              <a:rPr lang="en-US" sz="2200" b="1" dirty="0">
                <a:solidFill>
                  <a:srgbClr val="31413D"/>
                </a:solidFill>
                <a:latin typeface="Caveat" pitchFamily="34" charset="0"/>
                <a:ea typeface="Caveat" pitchFamily="34" charset="-122"/>
                <a:cs typeface="Caveat" pitchFamily="34" charset="-120"/>
              </a:rPr>
              <a:t>Mohammed Razak</a:t>
            </a:r>
            <a:endParaRPr lang="en-US" sz="2200" dirty="0"/>
          </a:p>
        </p:txBody>
      </p:sp>
      <p:sp>
        <p:nvSpPr>
          <p:cNvPr id="4" name="Text 2"/>
          <p:cNvSpPr/>
          <p:nvPr/>
        </p:nvSpPr>
        <p:spPr>
          <a:xfrm>
            <a:off x="4754880" y="164592"/>
            <a:ext cx="6933895" cy="411480"/>
          </a:xfrm>
          <a:prstGeom prst="rect">
            <a:avLst/>
          </a:prstGeom>
          <a:noFill/>
          <a:ln/>
        </p:spPr>
        <p:txBody>
          <a:bodyPr wrap="square" lIns="0" tIns="0" rIns="0" bIns="0" rtlCol="0" anchor="ctr"/>
          <a:lstStyle/>
          <a:p>
            <a:pPr algn="r" indent="0" marL="0">
              <a:buNone/>
            </a:pPr>
            <a:r>
              <a:rPr lang="en-US" sz="900" dirty="0">
                <a:solidFill>
                  <a:srgbClr val="6F7B78"/>
                </a:solidFill>
                <a:latin typeface="DM Mono" pitchFamily="34" charset="0"/>
                <a:ea typeface="DM Mono" pitchFamily="34" charset="-122"/>
                <a:cs typeface="DM Mono" pitchFamily="34" charset="-120"/>
              </a:rPr>
              <a:t>01 the breach     </a:t>
            </a:r>
            <a:pPr algn="r" indent="0" marL="0">
              <a:buNone/>
            </a:pPr>
            <a:r>
              <a:rPr lang="en-US" sz="900" dirty="0">
                <a:solidFill>
                  <a:srgbClr val="6F7B78"/>
                </a:solidFill>
                <a:latin typeface="DM Mono" pitchFamily="34" charset="0"/>
                <a:ea typeface="DM Mono" pitchFamily="34" charset="-122"/>
                <a:cs typeface="DM Mono" pitchFamily="34" charset="-120"/>
              </a:rPr>
              <a:t>02 why     </a:t>
            </a:r>
            <a:pPr algn="r" indent="0" marL="0">
              <a:buNone/>
            </a:pPr>
            <a:r>
              <a:rPr lang="en-US" sz="900" dirty="0">
                <a:solidFill>
                  <a:srgbClr val="6F7B78"/>
                </a:solidFill>
                <a:latin typeface="DM Mono" pitchFamily="34" charset="0"/>
                <a:ea typeface="DM Mono" pitchFamily="34" charset="-122"/>
                <a:cs typeface="DM Mono" pitchFamily="34" charset="-120"/>
              </a:rPr>
              <a:t>03 badge     </a:t>
            </a:r>
            <a:pPr algn="r" indent="0" marL="0">
              <a:buNone/>
            </a:pPr>
            <a:r>
              <a:rPr lang="en-US" sz="900" dirty="0">
                <a:solidFill>
                  <a:srgbClr val="6F7B78"/>
                </a:solidFill>
                <a:latin typeface="DM Mono" pitchFamily="34" charset="0"/>
                <a:ea typeface="DM Mono" pitchFamily="34" charset="-122"/>
                <a:cs typeface="DM Mono" pitchFamily="34" charset="-120"/>
              </a:rPr>
              <a:t>04 demo     </a:t>
            </a:r>
            <a:pPr algn="r" indent="0" marL="0">
              <a:buNone/>
            </a:pPr>
            <a:r>
              <a:rPr lang="en-US" sz="900" b="1" dirty="0">
                <a:solidFill>
                  <a:srgbClr val="2F77D1"/>
                </a:solidFill>
                <a:latin typeface="DM Mono" pitchFamily="34" charset="0"/>
                <a:ea typeface="DM Mono" pitchFamily="34" charset="-122"/>
                <a:cs typeface="DM Mono" pitchFamily="34" charset="-120"/>
              </a:rPr>
              <a:t>05 next</a:t>
            </a:r>
            <a:endParaRPr lang="en-US" sz="900" dirty="0"/>
          </a:p>
        </p:txBody>
      </p:sp>
      <p:sp>
        <p:nvSpPr>
          <p:cNvPr id="5" name="Shape 3"/>
          <p:cNvSpPr/>
          <p:nvPr/>
        </p:nvSpPr>
        <p:spPr>
          <a:xfrm>
            <a:off x="502920" y="621792"/>
            <a:ext cx="11185855" cy="0"/>
          </a:xfrm>
          <a:prstGeom prst="line">
            <a:avLst/>
          </a:prstGeom>
          <a:noFill/>
          <a:ln w="12700">
            <a:solidFill>
              <a:srgbClr val="DFE4DC"/>
            </a:solidFill>
            <a:prstDash val="solid"/>
          </a:ln>
        </p:spPr>
      </p:sp>
      <p:sp>
        <p:nvSpPr>
          <p:cNvPr id="6" name="Shape 4"/>
          <p:cNvSpPr/>
          <p:nvPr/>
        </p:nvSpPr>
        <p:spPr>
          <a:xfrm>
            <a:off x="676656" y="1097280"/>
            <a:ext cx="5760720" cy="5349240"/>
          </a:xfrm>
          <a:prstGeom prst="rect">
            <a:avLst/>
          </a:prstGeom>
          <a:solidFill>
            <a:srgbClr val="7C5F16">
              <a:alpha val="14000"/>
            </a:srgbClr>
          </a:solidFill>
          <a:ln w="12700">
            <a:solidFill>
              <a:srgbClr val="F7F8F3">
                <a:alpha val="0"/>
              </a:srgbClr>
            </a:solidFill>
            <a:prstDash val="solid"/>
          </a:ln>
        </p:spPr>
      </p:sp>
      <p:sp>
        <p:nvSpPr>
          <p:cNvPr id="7" name="Shape 5"/>
          <p:cNvSpPr/>
          <p:nvPr/>
        </p:nvSpPr>
        <p:spPr>
          <a:xfrm>
            <a:off x="548640" y="960120"/>
            <a:ext cx="5760720" cy="5349240"/>
          </a:xfrm>
          <a:prstGeom prst="rect">
            <a:avLst/>
          </a:prstGeom>
          <a:solidFill>
            <a:srgbClr val="F3CF60"/>
          </a:solidFill>
          <a:ln w="12700">
            <a:solidFill>
              <a:srgbClr val="BDA34F"/>
            </a:solidFill>
            <a:prstDash val="solid"/>
          </a:ln>
        </p:spPr>
      </p:sp>
      <p:sp>
        <p:nvSpPr>
          <p:cNvPr id="8" name="Shape 6"/>
          <p:cNvSpPr/>
          <p:nvPr/>
        </p:nvSpPr>
        <p:spPr>
          <a:xfrm>
            <a:off x="548640" y="1316736"/>
            <a:ext cx="5760720" cy="0"/>
          </a:xfrm>
          <a:prstGeom prst="line">
            <a:avLst/>
          </a:prstGeom>
          <a:noFill/>
          <a:ln w="9525">
            <a:solidFill>
              <a:srgbClr val="E2BE55"/>
            </a:solidFill>
            <a:prstDash val="solid"/>
          </a:ln>
        </p:spPr>
      </p:sp>
      <p:sp>
        <p:nvSpPr>
          <p:cNvPr id="9" name="Shape 7"/>
          <p:cNvSpPr/>
          <p:nvPr/>
        </p:nvSpPr>
        <p:spPr>
          <a:xfrm>
            <a:off x="548640" y="1673352"/>
            <a:ext cx="5760720" cy="0"/>
          </a:xfrm>
          <a:prstGeom prst="line">
            <a:avLst/>
          </a:prstGeom>
          <a:noFill/>
          <a:ln w="9525">
            <a:solidFill>
              <a:srgbClr val="E2BE55"/>
            </a:solidFill>
            <a:prstDash val="solid"/>
          </a:ln>
        </p:spPr>
      </p:sp>
      <p:sp>
        <p:nvSpPr>
          <p:cNvPr id="10" name="Shape 8"/>
          <p:cNvSpPr/>
          <p:nvPr/>
        </p:nvSpPr>
        <p:spPr>
          <a:xfrm>
            <a:off x="548640" y="2029968"/>
            <a:ext cx="5760720" cy="0"/>
          </a:xfrm>
          <a:prstGeom prst="line">
            <a:avLst/>
          </a:prstGeom>
          <a:noFill/>
          <a:ln w="9525">
            <a:solidFill>
              <a:srgbClr val="E2BE55"/>
            </a:solidFill>
            <a:prstDash val="solid"/>
          </a:ln>
        </p:spPr>
      </p:sp>
      <p:sp>
        <p:nvSpPr>
          <p:cNvPr id="11" name="Shape 9"/>
          <p:cNvSpPr/>
          <p:nvPr/>
        </p:nvSpPr>
        <p:spPr>
          <a:xfrm>
            <a:off x="548640" y="2386584"/>
            <a:ext cx="5760720" cy="0"/>
          </a:xfrm>
          <a:prstGeom prst="line">
            <a:avLst/>
          </a:prstGeom>
          <a:noFill/>
          <a:ln w="9525">
            <a:solidFill>
              <a:srgbClr val="E2BE55"/>
            </a:solidFill>
            <a:prstDash val="solid"/>
          </a:ln>
        </p:spPr>
      </p:sp>
      <p:sp>
        <p:nvSpPr>
          <p:cNvPr id="12" name="Shape 10"/>
          <p:cNvSpPr/>
          <p:nvPr/>
        </p:nvSpPr>
        <p:spPr>
          <a:xfrm>
            <a:off x="548640" y="2743200"/>
            <a:ext cx="5760720" cy="0"/>
          </a:xfrm>
          <a:prstGeom prst="line">
            <a:avLst/>
          </a:prstGeom>
          <a:noFill/>
          <a:ln w="9525">
            <a:solidFill>
              <a:srgbClr val="E2BE55"/>
            </a:solidFill>
            <a:prstDash val="solid"/>
          </a:ln>
        </p:spPr>
      </p:sp>
      <p:sp>
        <p:nvSpPr>
          <p:cNvPr id="13" name="Shape 11"/>
          <p:cNvSpPr/>
          <p:nvPr/>
        </p:nvSpPr>
        <p:spPr>
          <a:xfrm>
            <a:off x="548640" y="3099816"/>
            <a:ext cx="5760720" cy="0"/>
          </a:xfrm>
          <a:prstGeom prst="line">
            <a:avLst/>
          </a:prstGeom>
          <a:noFill/>
          <a:ln w="9525">
            <a:solidFill>
              <a:srgbClr val="E2BE55"/>
            </a:solidFill>
            <a:prstDash val="solid"/>
          </a:ln>
        </p:spPr>
      </p:sp>
      <p:sp>
        <p:nvSpPr>
          <p:cNvPr id="14" name="Shape 12"/>
          <p:cNvSpPr/>
          <p:nvPr/>
        </p:nvSpPr>
        <p:spPr>
          <a:xfrm>
            <a:off x="548640" y="3456432"/>
            <a:ext cx="5760720" cy="0"/>
          </a:xfrm>
          <a:prstGeom prst="line">
            <a:avLst/>
          </a:prstGeom>
          <a:noFill/>
          <a:ln w="9525">
            <a:solidFill>
              <a:srgbClr val="E2BE55"/>
            </a:solidFill>
            <a:prstDash val="solid"/>
          </a:ln>
        </p:spPr>
      </p:sp>
      <p:sp>
        <p:nvSpPr>
          <p:cNvPr id="15" name="Shape 13"/>
          <p:cNvSpPr/>
          <p:nvPr/>
        </p:nvSpPr>
        <p:spPr>
          <a:xfrm>
            <a:off x="548640" y="3813048"/>
            <a:ext cx="5760720" cy="0"/>
          </a:xfrm>
          <a:prstGeom prst="line">
            <a:avLst/>
          </a:prstGeom>
          <a:noFill/>
          <a:ln w="9525">
            <a:solidFill>
              <a:srgbClr val="E2BE55"/>
            </a:solidFill>
            <a:prstDash val="solid"/>
          </a:ln>
        </p:spPr>
      </p:sp>
      <p:sp>
        <p:nvSpPr>
          <p:cNvPr id="16" name="Shape 14"/>
          <p:cNvSpPr/>
          <p:nvPr/>
        </p:nvSpPr>
        <p:spPr>
          <a:xfrm>
            <a:off x="548640" y="4169664"/>
            <a:ext cx="5760720" cy="0"/>
          </a:xfrm>
          <a:prstGeom prst="line">
            <a:avLst/>
          </a:prstGeom>
          <a:noFill/>
          <a:ln w="9525">
            <a:solidFill>
              <a:srgbClr val="E2BE55"/>
            </a:solidFill>
            <a:prstDash val="solid"/>
          </a:ln>
        </p:spPr>
      </p:sp>
      <p:sp>
        <p:nvSpPr>
          <p:cNvPr id="17" name="Shape 15"/>
          <p:cNvSpPr/>
          <p:nvPr/>
        </p:nvSpPr>
        <p:spPr>
          <a:xfrm>
            <a:off x="548640" y="4526280"/>
            <a:ext cx="5760720" cy="0"/>
          </a:xfrm>
          <a:prstGeom prst="line">
            <a:avLst/>
          </a:prstGeom>
          <a:noFill/>
          <a:ln w="9525">
            <a:solidFill>
              <a:srgbClr val="E2BE55"/>
            </a:solidFill>
            <a:prstDash val="solid"/>
          </a:ln>
        </p:spPr>
      </p:sp>
      <p:sp>
        <p:nvSpPr>
          <p:cNvPr id="18" name="Shape 16"/>
          <p:cNvSpPr/>
          <p:nvPr/>
        </p:nvSpPr>
        <p:spPr>
          <a:xfrm>
            <a:off x="548640" y="4882896"/>
            <a:ext cx="5760720" cy="0"/>
          </a:xfrm>
          <a:prstGeom prst="line">
            <a:avLst/>
          </a:prstGeom>
          <a:noFill/>
          <a:ln w="9525">
            <a:solidFill>
              <a:srgbClr val="E2BE55"/>
            </a:solidFill>
            <a:prstDash val="solid"/>
          </a:ln>
        </p:spPr>
      </p:sp>
      <p:sp>
        <p:nvSpPr>
          <p:cNvPr id="19" name="Shape 17"/>
          <p:cNvSpPr/>
          <p:nvPr/>
        </p:nvSpPr>
        <p:spPr>
          <a:xfrm>
            <a:off x="548640" y="5239512"/>
            <a:ext cx="5760720" cy="0"/>
          </a:xfrm>
          <a:prstGeom prst="line">
            <a:avLst/>
          </a:prstGeom>
          <a:noFill/>
          <a:ln w="9525">
            <a:solidFill>
              <a:srgbClr val="E2BE55"/>
            </a:solidFill>
            <a:prstDash val="solid"/>
          </a:ln>
        </p:spPr>
      </p:sp>
      <p:sp>
        <p:nvSpPr>
          <p:cNvPr id="20" name="Shape 18"/>
          <p:cNvSpPr/>
          <p:nvPr/>
        </p:nvSpPr>
        <p:spPr>
          <a:xfrm>
            <a:off x="548640" y="5596128"/>
            <a:ext cx="5760720" cy="0"/>
          </a:xfrm>
          <a:prstGeom prst="line">
            <a:avLst/>
          </a:prstGeom>
          <a:noFill/>
          <a:ln w="9525">
            <a:solidFill>
              <a:srgbClr val="E2BE55"/>
            </a:solidFill>
            <a:prstDash val="solid"/>
          </a:ln>
        </p:spPr>
      </p:sp>
      <p:sp>
        <p:nvSpPr>
          <p:cNvPr id="21" name="Shape 19"/>
          <p:cNvSpPr/>
          <p:nvPr/>
        </p:nvSpPr>
        <p:spPr>
          <a:xfrm>
            <a:off x="548640" y="5952744"/>
            <a:ext cx="5760720" cy="0"/>
          </a:xfrm>
          <a:prstGeom prst="line">
            <a:avLst/>
          </a:prstGeom>
          <a:noFill/>
          <a:ln w="9525">
            <a:solidFill>
              <a:srgbClr val="E2BE55"/>
            </a:solidFill>
            <a:prstDash val="solid"/>
          </a:ln>
        </p:spPr>
      </p:sp>
      <p:sp>
        <p:nvSpPr>
          <p:cNvPr id="22" name="Shape 20"/>
          <p:cNvSpPr/>
          <p:nvPr/>
        </p:nvSpPr>
        <p:spPr>
          <a:xfrm rot="240000">
            <a:off x="5532120" y="868680"/>
            <a:ext cx="566928" cy="182880"/>
          </a:xfrm>
          <a:prstGeom prst="rect">
            <a:avLst/>
          </a:prstGeom>
          <a:solidFill>
            <a:srgbClr val="FFFFFF">
              <a:alpha val="45000"/>
            </a:srgbClr>
          </a:solidFill>
          <a:ln w="6350">
            <a:solidFill>
              <a:srgbClr val="3A2E0A">
                <a:alpha val="30000"/>
              </a:srgbClr>
            </a:solidFill>
            <a:prstDash val="solid"/>
          </a:ln>
        </p:spPr>
      </p:sp>
      <p:sp>
        <p:nvSpPr>
          <p:cNvPr id="23" name="Text 21"/>
          <p:cNvSpPr/>
          <p:nvPr/>
        </p:nvSpPr>
        <p:spPr>
          <a:xfrm>
            <a:off x="3794760" y="960120"/>
            <a:ext cx="1508760" cy="237744"/>
          </a:xfrm>
          <a:prstGeom prst="rect">
            <a:avLst/>
          </a:prstGeom>
          <a:solidFill>
            <a:srgbClr val="E7B947"/>
          </a:solidFill>
          <a:ln w="9525">
            <a:solidFill>
              <a:srgbClr val="BDA34F"/>
            </a:solidFill>
          </a:ln>
        </p:spPr>
        <p:txBody>
          <a:bodyPr wrap="square" lIns="0" tIns="0" rIns="0" bIns="0" rtlCol="0" anchor="ctr"/>
          <a:lstStyle/>
          <a:p>
            <a:pPr algn="ctr" indent="0" marL="0">
              <a:buNone/>
            </a:pPr>
            <a:r>
              <a:rPr lang="en-US" sz="750" dirty="0">
                <a:solidFill>
                  <a:srgbClr val="4D4218"/>
                </a:solidFill>
                <a:latin typeface="DM Mono" pitchFamily="34" charset="0"/>
                <a:ea typeface="DM Mono" pitchFamily="34" charset="-122"/>
                <a:cs typeface="DM Mono" pitchFamily="34" charset="-120"/>
              </a:rPr>
              <a:t>WHAT AGNTID GAVE US</a:t>
            </a:r>
            <a:endParaRPr lang="en-US" sz="750" dirty="0"/>
          </a:p>
        </p:txBody>
      </p:sp>
      <p:sp>
        <p:nvSpPr>
          <p:cNvPr id="24" name="Shape 22"/>
          <p:cNvSpPr/>
          <p:nvPr/>
        </p:nvSpPr>
        <p:spPr>
          <a:xfrm>
            <a:off x="868680" y="1394460"/>
            <a:ext cx="82296" cy="82296"/>
          </a:xfrm>
          <a:prstGeom prst="rect">
            <a:avLst/>
          </a:prstGeom>
          <a:solidFill>
            <a:srgbClr val="2F77D1"/>
          </a:solidFill>
          <a:ln w="12700">
            <a:solidFill>
              <a:srgbClr val="2F77D1"/>
            </a:solidFill>
            <a:prstDash val="solid"/>
          </a:ln>
        </p:spPr>
      </p:sp>
      <p:sp>
        <p:nvSpPr>
          <p:cNvPr id="25" name="Text 23"/>
          <p:cNvSpPr/>
          <p:nvPr/>
        </p:nvSpPr>
        <p:spPr>
          <a:xfrm>
            <a:off x="1051560" y="1325880"/>
            <a:ext cx="4572000" cy="219456"/>
          </a:xfrm>
          <a:prstGeom prst="rect">
            <a:avLst/>
          </a:prstGeom>
          <a:noFill/>
          <a:ln/>
        </p:spPr>
        <p:txBody>
          <a:bodyPr wrap="square" lIns="0" tIns="0" rIns="0" bIns="0" rtlCol="0" anchor="ctr"/>
          <a:lstStyle/>
          <a:p>
            <a:pPr indent="0" marL="0">
              <a:buNone/>
            </a:pPr>
            <a:r>
              <a:rPr lang="en-US" sz="1000" spc="100" kern="0" dirty="0">
                <a:solidFill>
                  <a:srgbClr val="71817D"/>
                </a:solidFill>
                <a:latin typeface="DM Mono" pitchFamily="34" charset="0"/>
                <a:ea typeface="DM Mono" pitchFamily="34" charset="-122"/>
                <a:cs typeface="DM Mono" pitchFamily="34" charset="-120"/>
              </a:rPr>
              <a:t>REAL, NOT MOCKED</a:t>
            </a:r>
            <a:endParaRPr lang="en-US" sz="1000" dirty="0"/>
          </a:p>
        </p:txBody>
      </p:sp>
      <p:sp>
        <p:nvSpPr>
          <p:cNvPr id="26" name="Text 24"/>
          <p:cNvSpPr/>
          <p:nvPr/>
        </p:nvSpPr>
        <p:spPr>
          <a:xfrm>
            <a:off x="868680" y="1645920"/>
            <a:ext cx="5212080" cy="914400"/>
          </a:xfrm>
          <a:prstGeom prst="rect">
            <a:avLst/>
          </a:prstGeom>
          <a:noFill/>
          <a:ln/>
        </p:spPr>
        <p:txBody>
          <a:bodyPr wrap="square" lIns="0" tIns="0" rIns="0" bIns="0" rtlCol="0" anchor="t"/>
          <a:lstStyle/>
          <a:p>
            <a:pPr indent="0" marL="0">
              <a:buNone/>
            </a:pPr>
            <a:r>
              <a:rPr lang="en-US" sz="3400" b="1" dirty="0">
                <a:solidFill>
                  <a:srgbClr val="21221C"/>
                </a:solidFill>
                <a:latin typeface="Caveat" pitchFamily="34" charset="0"/>
                <a:ea typeface="Caveat" pitchFamily="34" charset="-122"/>
                <a:cs typeface="Caveat" pitchFamily="34" charset="-120"/>
              </a:rPr>
              <a:t>Every block you saw was AgntID.</a:t>
            </a:r>
            <a:endParaRPr lang="en-US" sz="3400" dirty="0"/>
          </a:p>
        </p:txBody>
      </p:sp>
      <p:sp>
        <p:nvSpPr>
          <p:cNvPr id="27" name="Shape 25"/>
          <p:cNvSpPr/>
          <p:nvPr/>
        </p:nvSpPr>
        <p:spPr>
          <a:xfrm>
            <a:off x="896112" y="2907792"/>
            <a:ext cx="64008" cy="64008"/>
          </a:xfrm>
          <a:prstGeom prst="rect">
            <a:avLst/>
          </a:prstGeom>
          <a:solidFill>
            <a:srgbClr val="2F77D1"/>
          </a:solidFill>
          <a:ln w="12700">
            <a:solidFill>
              <a:srgbClr val="2F77D1"/>
            </a:solidFill>
            <a:prstDash val="solid"/>
          </a:ln>
        </p:spPr>
      </p:sp>
      <p:sp>
        <p:nvSpPr>
          <p:cNvPr id="28" name="Text 26"/>
          <p:cNvSpPr/>
          <p:nvPr/>
        </p:nvSpPr>
        <p:spPr>
          <a:xfrm>
            <a:off x="1078992" y="2788920"/>
            <a:ext cx="4937760" cy="310896"/>
          </a:xfrm>
          <a:prstGeom prst="rect">
            <a:avLst/>
          </a:prstGeom>
          <a:noFill/>
          <a:ln/>
        </p:spPr>
        <p:txBody>
          <a:bodyPr wrap="square" lIns="0" tIns="0" rIns="0" bIns="0" rtlCol="0" anchor="ctr"/>
          <a:lstStyle/>
          <a:p>
            <a:pPr indent="0" marL="0">
              <a:buNone/>
            </a:pPr>
            <a:r>
              <a:rPr lang="en-US" sz="1500" b="1" dirty="0">
                <a:solidFill>
                  <a:srgbClr val="504924"/>
                </a:solidFill>
                <a:latin typeface="Manrope" pitchFamily="34" charset="0"/>
                <a:ea typeface="Manrope" pitchFamily="34" charset="-122"/>
                <a:cs typeface="Manrope" pitchFamily="34" charset="-120"/>
              </a:rPr>
              <a:t>Badges = delegation tool allowlists</a:t>
            </a:r>
            <a:endParaRPr lang="en-US" sz="1500" dirty="0"/>
          </a:p>
        </p:txBody>
      </p:sp>
      <p:sp>
        <p:nvSpPr>
          <p:cNvPr id="29" name="Shape 27"/>
          <p:cNvSpPr/>
          <p:nvPr/>
        </p:nvSpPr>
        <p:spPr>
          <a:xfrm>
            <a:off x="896112" y="3456432"/>
            <a:ext cx="64008" cy="64008"/>
          </a:xfrm>
          <a:prstGeom prst="rect">
            <a:avLst/>
          </a:prstGeom>
          <a:solidFill>
            <a:srgbClr val="7750CE"/>
          </a:solidFill>
          <a:ln w="12700">
            <a:solidFill>
              <a:srgbClr val="7750CE"/>
            </a:solidFill>
            <a:prstDash val="solid"/>
          </a:ln>
        </p:spPr>
      </p:sp>
      <p:sp>
        <p:nvSpPr>
          <p:cNvPr id="30" name="Text 28"/>
          <p:cNvSpPr/>
          <p:nvPr/>
        </p:nvSpPr>
        <p:spPr>
          <a:xfrm>
            <a:off x="1078992" y="3337560"/>
            <a:ext cx="4937760" cy="310896"/>
          </a:xfrm>
          <a:prstGeom prst="rect">
            <a:avLst/>
          </a:prstGeom>
          <a:noFill/>
          <a:ln/>
        </p:spPr>
        <p:txBody>
          <a:bodyPr wrap="square" lIns="0" tIns="0" rIns="0" bIns="0" rtlCol="0" anchor="ctr"/>
          <a:lstStyle/>
          <a:p>
            <a:pPr indent="0" marL="0">
              <a:buNone/>
            </a:pPr>
            <a:r>
              <a:rPr lang="en-US" sz="1500" b="1" dirty="0">
                <a:solidFill>
                  <a:srgbClr val="504924"/>
                </a:solidFill>
                <a:latin typeface="Manrope" pitchFamily="34" charset="0"/>
                <a:ea typeface="Manrope" pitchFamily="34" charset="-122"/>
                <a:cs typeface="Manrope" pitchFamily="34" charset="-120"/>
              </a:rPr>
              <a:t>Handoffs = AgntID delegations (no escalation)</a:t>
            </a:r>
            <a:endParaRPr lang="en-US" sz="1500" dirty="0"/>
          </a:p>
        </p:txBody>
      </p:sp>
      <p:sp>
        <p:nvSpPr>
          <p:cNvPr id="31" name="Shape 29"/>
          <p:cNvSpPr/>
          <p:nvPr/>
        </p:nvSpPr>
        <p:spPr>
          <a:xfrm>
            <a:off x="896112" y="4005072"/>
            <a:ext cx="64008" cy="64008"/>
          </a:xfrm>
          <a:prstGeom prst="rect">
            <a:avLst/>
          </a:prstGeom>
          <a:solidFill>
            <a:srgbClr val="D96D3C"/>
          </a:solidFill>
          <a:ln w="12700">
            <a:solidFill>
              <a:srgbClr val="D96D3C"/>
            </a:solidFill>
            <a:prstDash val="solid"/>
          </a:ln>
        </p:spPr>
      </p:sp>
      <p:sp>
        <p:nvSpPr>
          <p:cNvPr id="32" name="Text 30"/>
          <p:cNvSpPr/>
          <p:nvPr/>
        </p:nvSpPr>
        <p:spPr>
          <a:xfrm>
            <a:off x="1078992" y="3886200"/>
            <a:ext cx="4937760" cy="310896"/>
          </a:xfrm>
          <a:prstGeom prst="rect">
            <a:avLst/>
          </a:prstGeom>
          <a:noFill/>
          <a:ln/>
        </p:spPr>
        <p:txBody>
          <a:bodyPr wrap="square" lIns="0" tIns="0" rIns="0" bIns="0" rtlCol="0" anchor="ctr"/>
          <a:lstStyle/>
          <a:p>
            <a:pPr indent="0" marL="0">
              <a:buNone/>
            </a:pPr>
            <a:r>
              <a:rPr lang="en-US" sz="1500" b="1" dirty="0">
                <a:solidFill>
                  <a:srgbClr val="504924"/>
                </a:solidFill>
                <a:latin typeface="Manrope" pitchFamily="34" charset="0"/>
                <a:ea typeface="Manrope" pitchFamily="34" charset="-122"/>
                <a:cs typeface="Manrope" pitchFamily="34" charset="-120"/>
              </a:rPr>
              <a:t>Meeting routing = one AgntID check per agent</a:t>
            </a:r>
            <a:endParaRPr lang="en-US" sz="1500" dirty="0"/>
          </a:p>
        </p:txBody>
      </p:sp>
      <p:sp>
        <p:nvSpPr>
          <p:cNvPr id="33" name="Shape 31"/>
          <p:cNvSpPr/>
          <p:nvPr/>
        </p:nvSpPr>
        <p:spPr>
          <a:xfrm>
            <a:off x="896112" y="4553712"/>
            <a:ext cx="64008" cy="64008"/>
          </a:xfrm>
          <a:prstGeom prst="rect">
            <a:avLst/>
          </a:prstGeom>
          <a:solidFill>
            <a:srgbClr val="469274"/>
          </a:solidFill>
          <a:ln w="12700">
            <a:solidFill>
              <a:srgbClr val="469274"/>
            </a:solidFill>
            <a:prstDash val="solid"/>
          </a:ln>
        </p:spPr>
      </p:sp>
      <p:sp>
        <p:nvSpPr>
          <p:cNvPr id="34" name="Text 32"/>
          <p:cNvSpPr/>
          <p:nvPr/>
        </p:nvSpPr>
        <p:spPr>
          <a:xfrm>
            <a:off x="1078992" y="4434840"/>
            <a:ext cx="4937760" cy="310896"/>
          </a:xfrm>
          <a:prstGeom prst="rect">
            <a:avLst/>
          </a:prstGeom>
          <a:noFill/>
          <a:ln/>
        </p:spPr>
        <p:txBody>
          <a:bodyPr wrap="square" lIns="0" tIns="0" rIns="0" bIns="0" rtlCol="0" anchor="ctr"/>
          <a:lstStyle/>
          <a:p>
            <a:pPr indent="0" marL="0">
              <a:buNone/>
            </a:pPr>
            <a:r>
              <a:rPr lang="en-US" sz="1500" b="1" dirty="0">
                <a:solidFill>
                  <a:srgbClr val="504924"/>
                </a:solidFill>
                <a:latin typeface="Manrope" pitchFamily="34" charset="0"/>
                <a:ea typeface="Manrope" pitchFamily="34" charset="-122"/>
                <a:cs typeface="Manrope" pitchFamily="34" charset="-120"/>
              </a:rPr>
              <a:t>Every decision in the AgntID audit log</a:t>
            </a:r>
            <a:endParaRPr lang="en-US" sz="1500" dirty="0"/>
          </a:p>
        </p:txBody>
      </p:sp>
      <p:sp>
        <p:nvSpPr>
          <p:cNvPr id="35" name="Shape 33"/>
          <p:cNvSpPr/>
          <p:nvPr/>
        </p:nvSpPr>
        <p:spPr>
          <a:xfrm>
            <a:off x="6766560" y="1028700"/>
            <a:ext cx="82296" cy="82296"/>
          </a:xfrm>
          <a:prstGeom prst="rect">
            <a:avLst/>
          </a:prstGeom>
          <a:solidFill>
            <a:srgbClr val="2F77D1"/>
          </a:solidFill>
          <a:ln w="12700">
            <a:solidFill>
              <a:srgbClr val="2F77D1"/>
            </a:solidFill>
            <a:prstDash val="solid"/>
          </a:ln>
        </p:spPr>
      </p:sp>
      <p:sp>
        <p:nvSpPr>
          <p:cNvPr id="36" name="Text 34"/>
          <p:cNvSpPr/>
          <p:nvPr/>
        </p:nvSpPr>
        <p:spPr>
          <a:xfrm>
            <a:off x="6949440" y="960120"/>
            <a:ext cx="4572000" cy="219456"/>
          </a:xfrm>
          <a:prstGeom prst="rect">
            <a:avLst/>
          </a:prstGeom>
          <a:noFill/>
          <a:ln/>
        </p:spPr>
        <p:txBody>
          <a:bodyPr wrap="square" lIns="0" tIns="0" rIns="0" bIns="0" rtlCol="0" anchor="ctr"/>
          <a:lstStyle/>
          <a:p>
            <a:pPr indent="0" marL="0">
              <a:buNone/>
            </a:pPr>
            <a:r>
              <a:rPr lang="en-US" sz="1000" spc="100" kern="0" dirty="0">
                <a:solidFill>
                  <a:srgbClr val="71817D"/>
                </a:solidFill>
                <a:latin typeface="DM Mono" pitchFamily="34" charset="0"/>
                <a:ea typeface="DM Mono" pitchFamily="34" charset="-122"/>
                <a:cs typeface="DM Mono" pitchFamily="34" charset="-120"/>
              </a:rPr>
              <a:t>NEXT</a:t>
            </a:r>
            <a:endParaRPr lang="en-US" sz="1000" dirty="0"/>
          </a:p>
        </p:txBody>
      </p:sp>
      <p:sp>
        <p:nvSpPr>
          <p:cNvPr id="37" name="Text 35"/>
          <p:cNvSpPr/>
          <p:nvPr/>
        </p:nvSpPr>
        <p:spPr>
          <a:xfrm>
            <a:off x="6766560" y="1325880"/>
            <a:ext cx="4937760" cy="457200"/>
          </a:xfrm>
          <a:prstGeom prst="rect">
            <a:avLst/>
          </a:prstGeom>
          <a:noFill/>
          <a:ln/>
        </p:spPr>
        <p:txBody>
          <a:bodyPr wrap="square" lIns="0" tIns="0" rIns="0" bIns="0" rtlCol="0" anchor="ctr"/>
          <a:lstStyle/>
          <a:p>
            <a:pPr indent="0" marL="0">
              <a:buNone/>
            </a:pPr>
            <a:r>
              <a:rPr lang="en-US" sz="2800" b="1" dirty="0">
                <a:solidFill>
                  <a:srgbClr val="2F77D1"/>
                </a:solidFill>
                <a:latin typeface="Caveat" pitchFamily="34" charset="0"/>
                <a:ea typeface="Caveat" pitchFamily="34" charset="-122"/>
                <a:cs typeface="Caveat" pitchFamily="34" charset="-120"/>
              </a:rPr>
              <a:t>computer use</a:t>
            </a:r>
            <a:endParaRPr lang="en-US" sz="2800" dirty="0"/>
          </a:p>
        </p:txBody>
      </p:sp>
      <p:sp>
        <p:nvSpPr>
          <p:cNvPr id="38" name="Text 36"/>
          <p:cNvSpPr/>
          <p:nvPr/>
        </p:nvSpPr>
        <p:spPr>
          <a:xfrm>
            <a:off x="6766560" y="1764792"/>
            <a:ext cx="4937760" cy="365760"/>
          </a:xfrm>
          <a:prstGeom prst="rect">
            <a:avLst/>
          </a:prstGeom>
          <a:noFill/>
          <a:ln/>
        </p:spPr>
        <p:txBody>
          <a:bodyPr wrap="square" lIns="0" tIns="0" rIns="0" bIns="0" rtlCol="0" anchor="ctr"/>
          <a:lstStyle/>
          <a:p>
            <a:pPr indent="0" marL="0">
              <a:buNone/>
            </a:pPr>
            <a:r>
              <a:rPr lang="en-US" sz="1400" dirty="0">
                <a:solidFill>
                  <a:srgbClr val="162122"/>
                </a:solidFill>
                <a:latin typeface="Manrope" pitchFamily="34" charset="0"/>
                <a:ea typeface="Manrope" pitchFamily="34" charset="-122"/>
                <a:cs typeface="Manrope" pitchFamily="34" charset="-120"/>
              </a:rPr>
              <a:t>Each agent gets its own browser. AgntID decides which sites.</a:t>
            </a:r>
            <a:endParaRPr lang="en-US" sz="1400" dirty="0"/>
          </a:p>
        </p:txBody>
      </p:sp>
      <p:sp>
        <p:nvSpPr>
          <p:cNvPr id="39" name="Text 37"/>
          <p:cNvSpPr/>
          <p:nvPr/>
        </p:nvSpPr>
        <p:spPr>
          <a:xfrm>
            <a:off x="6766560" y="2286000"/>
            <a:ext cx="4937760" cy="457200"/>
          </a:xfrm>
          <a:prstGeom prst="rect">
            <a:avLst/>
          </a:prstGeom>
          <a:noFill/>
          <a:ln/>
        </p:spPr>
        <p:txBody>
          <a:bodyPr wrap="square" lIns="0" tIns="0" rIns="0" bIns="0" rtlCol="0" anchor="ctr"/>
          <a:lstStyle/>
          <a:p>
            <a:pPr indent="0" marL="0">
              <a:buNone/>
            </a:pPr>
            <a:r>
              <a:rPr lang="en-US" sz="2800" b="1" dirty="0">
                <a:solidFill>
                  <a:srgbClr val="2F77D1"/>
                </a:solidFill>
                <a:latin typeface="Caveat" pitchFamily="34" charset="0"/>
                <a:ea typeface="Caveat" pitchFamily="34" charset="-122"/>
                <a:cs typeface="Caveat" pitchFamily="34" charset="-120"/>
              </a:rPr>
              <a:t>parameter rules</a:t>
            </a:r>
            <a:endParaRPr lang="en-US" sz="2800" dirty="0"/>
          </a:p>
        </p:txBody>
      </p:sp>
      <p:sp>
        <p:nvSpPr>
          <p:cNvPr id="40" name="Text 38"/>
          <p:cNvSpPr/>
          <p:nvPr/>
        </p:nvSpPr>
        <p:spPr>
          <a:xfrm>
            <a:off x="6766560" y="2724912"/>
            <a:ext cx="4937760" cy="365760"/>
          </a:xfrm>
          <a:prstGeom prst="rect">
            <a:avLst/>
          </a:prstGeom>
          <a:noFill/>
          <a:ln/>
        </p:spPr>
        <p:txBody>
          <a:bodyPr wrap="square" lIns="0" tIns="0" rIns="0" bIns="0" rtlCol="0" anchor="ctr"/>
          <a:lstStyle/>
          <a:p>
            <a:pPr indent="0" marL="0">
              <a:buNone/>
            </a:pPr>
            <a:r>
              <a:rPr lang="en-US" sz="1400" dirty="0">
                <a:solidFill>
                  <a:srgbClr val="162122"/>
                </a:solidFill>
                <a:latin typeface="Manrope" pitchFamily="34" charset="0"/>
                <a:ea typeface="Manrope" pitchFamily="34" charset="-122"/>
                <a:cs typeface="Manrope" pitchFamily="34" charset="-120"/>
              </a:rPr>
              <a:t>sum(amount) yes. email, card_last4 no.</a:t>
            </a:r>
            <a:endParaRPr lang="en-US" sz="1400" dirty="0"/>
          </a:p>
        </p:txBody>
      </p:sp>
      <p:sp>
        <p:nvSpPr>
          <p:cNvPr id="41" name="Text 39"/>
          <p:cNvSpPr/>
          <p:nvPr/>
        </p:nvSpPr>
        <p:spPr>
          <a:xfrm>
            <a:off x="6766560" y="3246120"/>
            <a:ext cx="4937760" cy="457200"/>
          </a:xfrm>
          <a:prstGeom prst="rect">
            <a:avLst/>
          </a:prstGeom>
          <a:noFill/>
          <a:ln/>
        </p:spPr>
        <p:txBody>
          <a:bodyPr wrap="square" lIns="0" tIns="0" rIns="0" bIns="0" rtlCol="0" anchor="ctr"/>
          <a:lstStyle/>
          <a:p>
            <a:pPr indent="0" marL="0">
              <a:buNone/>
            </a:pPr>
            <a:r>
              <a:rPr lang="en-US" sz="2800" b="1" dirty="0">
                <a:solidFill>
                  <a:srgbClr val="2F77D1"/>
                </a:solidFill>
                <a:latin typeface="Caveat" pitchFamily="34" charset="0"/>
                <a:ea typeface="Caveat" pitchFamily="34" charset="-122"/>
                <a:cs typeface="Caveat" pitchFamily="34" charset="-120"/>
              </a:rPr>
              <a:t>right to forget</a:t>
            </a:r>
            <a:endParaRPr lang="en-US" sz="2800" dirty="0"/>
          </a:p>
        </p:txBody>
      </p:sp>
      <p:sp>
        <p:nvSpPr>
          <p:cNvPr id="42" name="Text 40"/>
          <p:cNvSpPr/>
          <p:nvPr/>
        </p:nvSpPr>
        <p:spPr>
          <a:xfrm>
            <a:off x="6766560" y="3685032"/>
            <a:ext cx="4937760" cy="365760"/>
          </a:xfrm>
          <a:prstGeom prst="rect">
            <a:avLst/>
          </a:prstGeom>
          <a:noFill/>
          <a:ln/>
        </p:spPr>
        <p:txBody>
          <a:bodyPr wrap="square" lIns="0" tIns="0" rIns="0" bIns="0" rtlCol="0" anchor="ctr"/>
          <a:lstStyle/>
          <a:p>
            <a:pPr indent="0" marL="0">
              <a:buNone/>
            </a:pPr>
            <a:r>
              <a:rPr lang="en-US" sz="1400" dirty="0">
                <a:solidFill>
                  <a:srgbClr val="162122"/>
                </a:solidFill>
                <a:latin typeface="Manrope" pitchFamily="34" charset="0"/>
                <a:ea typeface="Manrope" pitchFamily="34" charset="-122"/>
                <a:cs typeface="Manrope" pitchFamily="34" charset="-120"/>
              </a:rPr>
              <a:t>Delete means delete, enforced at the tool.</a:t>
            </a:r>
            <a:endParaRPr lang="en-US" sz="1400" dirty="0"/>
          </a:p>
        </p:txBody>
      </p:sp>
      <p:sp>
        <p:nvSpPr>
          <p:cNvPr id="43" name="Text 41"/>
          <p:cNvSpPr/>
          <p:nvPr/>
        </p:nvSpPr>
        <p:spPr>
          <a:xfrm>
            <a:off x="6766560" y="4937760"/>
            <a:ext cx="4937760" cy="914400"/>
          </a:xfrm>
          <a:prstGeom prst="rect">
            <a:avLst/>
          </a:prstGeom>
          <a:noFill/>
          <a:ln/>
        </p:spPr>
        <p:txBody>
          <a:bodyPr wrap="square" lIns="0" tIns="0" rIns="0" bIns="0" rtlCol="0" anchor="t"/>
          <a:lstStyle/>
          <a:p>
            <a:pPr indent="0" marL="0">
              <a:buNone/>
            </a:pPr>
            <a:r>
              <a:rPr lang="en-US" sz="4000" b="1" dirty="0">
                <a:solidFill>
                  <a:srgbClr val="D96D3C"/>
                </a:solidFill>
                <a:latin typeface="Caveat" pitchFamily="34" charset="0"/>
                <a:ea typeface="Caveat" pitchFamily="34" charset="-122"/>
                <a:cs typeface="Caveat" pitchFamily="34" charset="-120"/>
              </a:rPr>
              <a:t>Give agents badges, not keys.</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BADGE - every AI employee gets a badge</dc:title>
  <dc:subject>PptxGenJS Presentation</dc:subject>
  <dc:creator>PptxGenJS</dc:creator>
  <cp:lastModifiedBy>PptxGenJS</cp:lastModifiedBy>
  <cp:revision>1</cp:revision>
  <dcterms:created xsi:type="dcterms:W3CDTF">2026-10-10T09:58:34Z</dcterms:created>
  <dcterms:modified xsi:type="dcterms:W3CDTF">2026-10-10T09:58:34Z</dcterms:modified>
</cp:coreProperties>
</file>